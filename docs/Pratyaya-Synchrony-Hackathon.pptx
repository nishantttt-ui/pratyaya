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The name is the argument in miniature: credit is belief, and for a thin-file borrower the problem is not that the belief is misplaced, it is that nobody has ever looked.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word is unobserved. This is a measurement failure that looks like a risk judgement.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whole problem. Most fairness work treats bias as a property of the model and reaches for a constrained optimiser. Here the model is behaving reasonably on the data it has. The data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slide, it should be this one. In regulated lending, a model that cannot be held to its output cannot be on the decision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the bands. The point to land: everything green completes before anything amber is called, so the amber row can fail entirely and the applicant still receives a correct, compliant, cited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bar is the slide. Everything above it is finished before anything below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to be challenged on synthetic data. The answer is that the alternative is not real data, it is a US or Czech dataset relabelled as Indian. And ground truth is what lets us prove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when challenged on synthetic data. The machinery is validated on real defaults; only the inclusion comparison needs the generator. Note we report the scope limit ourselves.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Holding approval rate constant matters. Otherwise a model could look fairer simply by approving more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bad rate falling. The inclusive model approves a fairer mix and takes on less risk doing it, because it is seeing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 curves on held-out applicants. The gain is largest in the region where most lending decisions are actually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slow down on. It converts a fairness metric into a sentence about people, which is what a credit committee actually decides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'reads gender to decide' column is the point a fair-lending reviewer will care about. A remedy that applies a different threshold by group is disparate treatment, not a cure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0.24 story is worth telling. It shows the difference between a system that displays an explanation and one that can defend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importances or approximations. They are the model’s output taken apart and put back together, summing to within 5×10⁻¹⁵ of the score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Derived features are excluded deliberately. Lower your instalment-to-income ratio is not an action; borrow less and repay over longer are, and both are offered.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CIC-04 is the one to point at: the regulation itself says absence of history is not adverse history. The architecture is enforcing something the law already asserts.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two bracketed citations and the two rupee figures. The citations come from retrieval; the figures come from counterfactual search. The language model supplied only the sentences around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is defence in depth. The real guarantee is that the sensitive data is never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2 is the interesting one. Data minimisation is the primary defence and the guardrail is the backstop. Say that we found this by testing rather than by assuming.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caveat before anyone asks. A candidate who marks their own homework and says so is more trustworthy than one reporting a perfect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0.34 ms number is the one to say out loud. It kills the assumption that a lender trades latency for explainability.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trade-off with a reason attached. That is what separates a considered build from a generated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India domain knowledge. Most submissions will say they use alternative data; almost none will name the rail it legally travels on or model the consent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phrase that matters is by construction. Every one of these is enforced by the shape of the code, not by a rule someone has to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an apology. Constraint on the left, what was done about it on the right. Saying it first means you choose the framing; being asked later means they do. If anyone raises deployment or Bedrock, both are answered elsewhere: the system is live, and the provider abstraction was proven by swapping models mid-build.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links out. This is the slide that turns a deck into something they can verify for themselves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chips. They are the promise of the system in nine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api.onrender.com/health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PROBLEM STATEMENT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Pratyaya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974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fairness-audited credit assessment for thin-file and new-to-credit borrowers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02920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81528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81528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reasons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0136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0136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617720"/>
            <a:ext cx="11155680" cy="786384"/>
          </a:xfrm>
          <a:prstGeom prst="roundRect">
            <a:avLst>
              <a:gd name="adj" fmla="val 11628"/>
            </a:avLst>
          </a:prstGeom>
          <a:solidFill>
            <a:srgbClr val="1C2F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61772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CODE 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5596128"/>
            <a:ext cx="3840480" cy="0"/>
          </a:xfrm>
          <a:prstGeom prst="line">
            <a:avLst/>
          </a:prstGeom>
          <a:noFill/>
          <a:ln w="12700">
            <a:solidFill>
              <a:srgbClr val="3A4B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57607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Pratyaya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(प्रत्यय) — Sanskrit for trust. The word </a:t>
            </a:r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descends from Latin </a:t>
            </a:r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credere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believe.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name the same thing: a lender's belief that a borrower will repay.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reads a file that does not exist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who has never borrowed formally has no bureau record. They are declined not for being risky, but for being unobserved — and because they are declined, they never generate the history that would let them be seen next time.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portfolio is new-to-credit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bureau score, no credit history length. Nothing for a traditional model to read.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70.6 / 51.0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vs men, new-to-credit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evidence is not evenly distributed, so a bureau-led model inherits the skew wholesale.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67.5 / 51.8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7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vs metro, new-to-credit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7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mechanism on a second axis. The exclusion is self-sealing.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project's reference population of 30,000 applicants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people a bureau-led model cannot see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applicants with no credit bureau record at all, by group. Nothing here is about repayment — it is about visibility.</a:t>
            </a:r>
            <a:endParaRPr lang="en-US" sz="1250" dirty="0"/>
          </a:p>
        </p:txBody>
      </p:sp>
      <p:pic>
        <p:nvPicPr>
          <p:cNvPr id="4" name="Image 0" descr="/Users/apple/pratyaya/docs/figures/ntc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2344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THE WHOLE BUILD RESTS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is not in the algorithm.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in the evidence.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886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rural applicants in this population repay at the same rate as everyone else — 11.8% against 12.2%. What differs is how much of their financial life the lender can see. Fix the evidence and you fix the disparity, without ever touching the decision rule.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DECISION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4980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language model sits on the explanation path, never the decision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E3F0E9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048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decides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gradient-boosted model. Deterministic, auditable, reproducible. Its output is final before any language model is called.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BEFDC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0487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narrates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model rewrites the finished notice more warmly, grounded in retrieved regulation, and only if its output passes a guardrail.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04872"/>
            <a:ext cx="384048" cy="384048"/>
          </a:xfrm>
          <a:prstGeom prst="ellipse">
            <a:avLst/>
          </a:prstGeom>
          <a:solidFill>
            <a:srgbClr val="1623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buys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hallucination, an outage, an exhausted quota or a change of vendor can alter how a decision is described. None can alter what it 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 a complete, compliant decision with reasons, recourse and citations even with no API key configured at all. That is not a fallback bolted on late; it is the ordering of the pipeline.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components are load-bearing: the decision and the compliant notice depend only on them. Amber is optional and can fail without consequence.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996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947672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2093976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applicant view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93976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decision, reasons, recourse, citations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876288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22592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underwriter view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22592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probability, SHAP contributions, provenance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2311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47672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093976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+ roles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90814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05445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68619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014923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29093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975397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projection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78956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3587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logging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96265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947672" y="2761488"/>
            <a:ext cx="9710928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093976" y="28163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DecisionService — decide, explain, retrieve, render, then optionally narrate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093976" y="3063240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is the architecture: a complete compliant answer exists before any model is called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369417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947672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093976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2093976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calibrated, handles NaN natively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215128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361432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361432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codes, error 5e-15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482584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628888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search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628888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 re-scored by the model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4256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947672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2093976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2093976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Neon, Singapore · HNSW index · 37 provisions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48856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995160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bge-small-en-v1.5 (ONNX)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995160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computed locally, no text leaves the host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2920" y="51572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947672" y="4956048"/>
            <a:ext cx="2913278" cy="658368"/>
          </a:xfrm>
          <a:prstGeom prst="roundRect">
            <a:avLst>
              <a:gd name="adj" fmla="val 9722"/>
            </a:avLst>
          </a:prstGeom>
          <a:solidFill>
            <a:srgbClr val="F7E5E4"/>
          </a:solidFill>
          <a:ln w="15875">
            <a:solidFill>
              <a:srgbClr val="A3302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2093976" y="5010912"/>
            <a:ext cx="2620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2093976" y="5257800"/>
            <a:ext cx="26206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· injection · contradiction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52390" y="4956048"/>
            <a:ext cx="6706210" cy="658368"/>
          </a:xfrm>
          <a:prstGeom prst="roundRect">
            <a:avLst>
              <a:gd name="adj" fmla="val 9722"/>
            </a:avLst>
          </a:prstGeom>
          <a:solidFill>
            <a:srgbClr val="FBEFDC"/>
          </a:solidFill>
          <a:ln w="15875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5098694" y="5010912"/>
            <a:ext cx="6413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abstraction — Gemini · Groq · Ollama · Bedrock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5098694" y="5257800"/>
            <a:ext cx="64136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by one environment variable; rejected output falls back to the deterministic notice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02920" y="58887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1947672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2093976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population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2093976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generated, documented causal structure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215128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5361432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corpus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5361432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instruments, paraphrased and cited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8482584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628888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artifacts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8628888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model, SHAP background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819656" y="19568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1819656" y="268833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1819656" y="341985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1819656" y="415137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1819656" y="488289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819656" y="56144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502920" y="641908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shown is running: </a:t>
            </a:r>
            <a:pPr indent="0" marL="0">
              <a:buNone/>
            </a:pPr>
            <a:r>
              <a:rPr lang="en-US" sz="1050" i="1" u="sng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component read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pratyaya-api.onrender.com/health</a:t>
            </a:r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reports model ready, 37 provisions, vector_store pgvector, llm_provider gemini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an application arrives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steps. The first six are deterministic and complete in about ten milliseconds. Only then is a language model consulted, and only about wording.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E3F0E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0664" y="160934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 ·  COMPLETES IN ~10 MS  ·  NO MODEL INVOLVED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06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869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 on out-of-range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identifier fields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817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817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3382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53898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8528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68528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8010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8010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3214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3730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8360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8360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TreeSHAP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+0.34 ms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7842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7842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3046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3562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28192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28192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47674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7674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82878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93394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08024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08024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27506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27506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62710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7322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8785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notice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8785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110733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0733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02920" y="3218688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16232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2920" y="32186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DECISION, THE REASONS, THE RECOURSE AND THE CITATIONS ARE NOW FINAL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02920" y="3822192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FBEFD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0664" y="395020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 ·  WORDING ONLY  ·  ~2 S  ·  MAY FAIL WITHOUT CONSEQUENCE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4066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8696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in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88696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assembled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98094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98094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33298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43814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58444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358444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rewrites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notice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7842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7842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603046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613562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628192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out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628192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contradiction, PII,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37590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37590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72794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883310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4" name="Text 62"/>
          <p:cNvSpPr txBox="1"/>
          <p:nvPr/>
        </p:nvSpPr>
        <p:spPr>
          <a:xfrm>
            <a:off x="897940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by role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897940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sees more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the applicant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1107338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107338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502920" y="5559552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777240" y="56784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steps 7 to 9 fail for any reason — outage, rate limit, a guardrail firing — the applicant receives the notice rendered at step 6. Measured on a flaky free tier, that happened to half of all requests, and every one of them was still correct.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data, and why it is synthetic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 — that data is personal financial information and is not published. So the population is generated openly, with its assumptions written down and tested, rather than sourced from a proxy dataset and quietly relabelled.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Causal, not correlational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is driven by latent repayment capacity and willingness plus a large idiosyncratic shock. Observable features are noisy consequences of those latents — never rescaled copies of the label.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seeded biases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records go missing more often for women and rural applicants; declared income is depressed for women. Neither touches true repayment.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 tests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feature-to-label correlation 0.49. Equal true default rates across groups. Both asserted in the suite, so they fail loudly rather than drifting silently.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3309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ground truth is what makes the result provable. On a real portfolio a rejected applicant's counterfactual repayment is never observed, so the central claim could be argued but not measured.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pipeline, run on real credit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objection to a synthetic population is that the result could be an artefact of the generator. So the identical code path - design matrix, booster, calibration, TreeSHAP, fairness audit - was run over two real public datasets with genuinely observed defaults.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14600"/>
          <a:ext cx="11155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371600"/>
                <a:gridCol w="1371600"/>
                <a:gridCol w="17373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TreeSHAP error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 Credit (Statlog)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Default of Credit Card Clients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project, synthetic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51460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514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2514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104120" y="2514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error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206240"/>
            <a:ext cx="11155680" cy="914400"/>
          </a:xfrm>
          <a:prstGeom prst="roundRect">
            <a:avLst>
              <a:gd name="adj" fmla="val 9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77240" y="4325112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synthetic population's difficulty sits between the two real datasets, which is the answer to “you tuned it to a flattering level”. TreeSHAP stays exact on real data. The audit also found a genuine violation rather than rubber-stamping: age band on German Credit fails the 80% rule at 0.783.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5257800"/>
            <a:ext cx="11155680" cy="777240"/>
          </a:xfrm>
          <a:prstGeom prst="roundRect">
            <a:avLst>
              <a:gd name="adj" fmla="val 10588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5376672"/>
            <a:ext cx="106070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 NOT establish: neither dataset carries alternative data, so the inclusion finding cannot be reproduced on them. That claim rests on the synthetic population, and this deck says so.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difficulty sits between two real datasets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identical pipeline — design matrix, booster, calibration, TreeSHAP, fairness audit — run over real credit data with observed defaults.</a:t>
            </a:r>
            <a:endParaRPr lang="en-US" sz="1250" dirty="0"/>
          </a:p>
        </p:txBody>
      </p:sp>
      <p:pic>
        <p:nvPicPr>
          <p:cNvPr id="4" name="Image 0" descr="/Users/apple/pratyaya/docs/figures/real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51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544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models. Same data, same splits, same approval rate.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0292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details and the credit bureau record only — the information a conventional underwriter sees.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078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1340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338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338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same, plus consented alternative data: UPI cash-flow behaviour, utility punctuality, telecom tenure.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 is pinned at 70% for both, so the comparison is like-for-like. Any difference is the information, not the risk appetite.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risk and fairness moved together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34440"/>
                <a:gridCol w="150876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on held-out data, approval rate pinned at 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Alternative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statistic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 among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Creditworthy NTC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impact, gender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Qualified-approval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1371600"/>
            <a:ext cx="6949440" cy="402336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12648" y="137160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out, approval pinned at 70%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520440" y="137160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only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71600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Alt data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3716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00" dirty="0"/>
          </a:p>
        </p:txBody>
      </p:sp>
      <p:pic>
        <p:nvPicPr>
          <p:cNvPr id="9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325880"/>
            <a:ext cx="3886200" cy="27340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2920" y="49834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7240" y="51023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accuracy-versus-fairness trade-off here — which is the point. The disparity was never a property of the algorithm, so it did not have to be bought back with accuracy.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extra evidence actually pays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curves on held-out applicants. The gain is largest in the region where most lending decisions are actually made.</a:t>
            </a:r>
            <a:endParaRPr lang="en-US" sz="1250" dirty="0"/>
          </a:p>
        </p:txBody>
      </p:sp>
      <p:pic>
        <p:nvPicPr>
          <p:cNvPr id="4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2702" y="1481328"/>
            <a:ext cx="6596116" cy="46451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RESULT, STATED AS PEOPLE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Among applicants who would have repaid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6035040" cy="3995928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/>
        </p:spPr>
      </p:sp>
      <p:pic>
        <p:nvPicPr>
          <p:cNvPr id="5" name="Image 0" descr="/Users/apple/pratyaya/docs/figures/fairness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984248"/>
            <a:ext cx="5815584" cy="3849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0" y="1874520"/>
            <a:ext cx="4800600" cy="1874520"/>
          </a:xfrm>
          <a:prstGeom prst="roundRect">
            <a:avLst>
              <a:gd name="adj" fmla="val 4878"/>
            </a:avLst>
          </a:prstGeom>
          <a:solidFill>
            <a:srgbClr val="0A574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0" y="2057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10.8 → 3.4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132320" y="27432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percentage-point gap between creditworthy women and men. A 69% reduction.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3950208"/>
            <a:ext cx="4800600" cy="1920240"/>
          </a:xfrm>
          <a:prstGeom prst="roundRect">
            <a:avLst>
              <a:gd name="adj" fmla="val 4762"/>
            </a:avLst>
          </a:prstGeom>
          <a:solidFill>
            <a:srgbClr val="0A57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2320" y="4160520"/>
            <a:ext cx="4251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creditworthy women approved. Fewer defaults among those approved. The people the old model missed were not bad risks — they were invisible ones.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tried the algorithmic remedies too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the disparity lives in the evidence rather than the algorithm is only worth something if the standard algorithmic fixes were actually run. They were, at an identical approval rate.</a:t>
            </a:r>
            <a:endParaRPr lang="en-US" sz="14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554480"/>
                <a:gridCol w="219456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gender to decide?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bureau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data (this project)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CorrelationRemover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ExponentiatedGradient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degenerate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A65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37744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3774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25196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3774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377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Disparate impact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377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gender to decide?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5720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46908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algorithmic remedy bought fairness with accuracy or with risk. Widening the evidence was the only one that improved discrimination, risk and fairness together — and the only one needing the protected attribute at neither training nor decision time.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557784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77240" y="569671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failures recorded rather than smoothed over: CorrelationRemover cannot accept a missing bureau score, the very signal that defines a thin-file applicant. ExponentiatedGradient collapsed to approving 99% of everyone across five constraint tightnesses and three constraint types — at a 12% base rate, approving everyone satisfies parity exactly.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intervention improved both axes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strategy at an identical approval rate. Up is a better model; left is a fairer one. Diamonds must read the applicant’s gender to decide.</a:t>
            </a:r>
            <a:endParaRPr lang="en-US" sz="1250" dirty="0"/>
          </a:p>
        </p:txBody>
      </p:sp>
      <p:pic>
        <p:nvPicPr>
          <p:cNvPr id="4" name="Image 0" descr="/Users/apple/pratyaya/docs/figures/mitig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8066" y="1481328"/>
            <a:ext cx="5625389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lender’s own book hides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observed only for applicants a previous policy approved, so the training data is censored. On a real book the damage is unmeasurable. Here it is not.</a:t>
            </a:r>
            <a:endParaRPr lang="en-US" sz="1250" dirty="0"/>
          </a:p>
        </p:txBody>
      </p:sp>
      <p:pic>
        <p:nvPicPr>
          <p:cNvPr id="4" name="Image 0" descr="/Users/apple/pratyaya/docs/figures/reject_infer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1446" y="1481328"/>
            <a:ext cx="8218627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codes that faithfully decompose the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decline. Contributions in log-odds, aggregated back to features a person recognises.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66928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21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Days with very low balance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40 of 90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423160"/>
            <a:ext cx="4069080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Utility bill punctuality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35%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136392"/>
            <a:ext cx="12252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547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Income regularity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9624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49624"/>
            <a:ext cx="5394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261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 ·  declared income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₹5,000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562856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562856"/>
            <a:ext cx="1014984" cy="128016"/>
          </a:xfrm>
          <a:prstGeom prst="roundRect">
            <a:avLst>
              <a:gd name="adj" fmla="val 50000"/>
            </a:avLst>
          </a:prstGeom>
          <a:solidFill>
            <a:srgbClr val="0E6B4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46520" y="187452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720840" y="20299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× 10⁻¹⁵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78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additivity error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codes sum exactly to the model's output. They are the decomposition, not an approximation of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46520" y="3429000"/>
            <a:ext cx="5212080" cy="1508760"/>
          </a:xfrm>
          <a:prstGeom prst="roundRect">
            <a:avLst>
              <a:gd name="adj" fmla="val 5455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20840" y="358444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build let the booster split categoricals natively. TreeSHAP mis-attributed those splits by up to 0.24 log-odds — enough to reorder an applicant's reasons. One-hot encoding every split cost 0.001 AUC and made the attribution exact. Under the Fair Practices Code an unfaithful reason is a compliance failure, not a cosmetic one.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factor, and exactly how much it counted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declined applicant, decomposed. Bars to the right pushed toward decline; bars to the left pushed toward approval.</a:t>
            </a:r>
            <a:endParaRPr lang="en-US" sz="1250" dirty="0"/>
          </a:p>
        </p:txBody>
      </p:sp>
      <p:pic>
        <p:nvPicPr>
          <p:cNvPr id="4" name="Image 0" descr="/Users/apple/pratyaya/docs/figures/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8571" y="1481328"/>
            <a:ext cx="5764378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not importances or approximations. They are the model’s output taken apart and put back together, summing to within 5×10⁻¹⁵ of the score itself.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decline that comes with a plan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below is a genuine counterfactual: the feature is moved, the applicant is re-scored by the same model, and only changes that actually flip the decision are shown.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amount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₹97,300  →  ₹43,100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less lowers the monthly instalment.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 →  14 months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longer term reduces each instalment.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9631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regularity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 →  40%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recharge schedule builds this signal. Takes one to three months.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8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move.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 and employment sector are never suggested. Advising someone to be older is not recourse.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73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reach.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capped at the 85th percentile of the population, and “no attainable change” is reported honestly rather than padded.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 are excluded deliberately: “lower your instalment-to-income ratio” is not an action; borrow less and repay over longer are, and both are offered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regulation demanded the feature anyway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 from five Indian instruments, embedded locally and retrieved per decision, so every notice cites the rule that governs it.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Fair Practices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conveyed — automated or not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80944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80944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Digital Lending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Need-based data, Key Fact Statement, explainable models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6632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purpose limitation, minimisation, erasure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33488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34656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3465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34656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consented rail alternative data legally travels 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10344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11512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11512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11512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 Act 2005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adverse history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11155680" cy="1143000"/>
          </a:xfrm>
          <a:prstGeom prst="roundRect">
            <a:avLst>
              <a:gd name="adj" fmla="val 72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3891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FOR A LIVE DECLINE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communicated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Borrower's right to reject data collection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evidence of poor credit conduct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are labelled paraphrases citing the real instrument — seeding a corpus with invented quotations would be the hallucination this design prevents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applicant actually reads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live by Gemini from the finished decision. Every figure in it comes from the facts block; the model added no numbers of its 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7223760" cy="3931920"/>
          </a:xfrm>
          <a:prstGeom prst="roundRect">
            <a:avLst>
              <a:gd name="adj" fmla="val 2093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212848"/>
            <a:ext cx="6583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writing to inform you that your loan application has been declined. As you are new to formal credit, we assessed your application based on your financial habits rather than a credit bureau record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assessment identified a few areas that prevented approval. Your monthly instalment amount is currently too high relative to your income of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19,600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Additionally, we noted that your utility bills are often paid late and your mobile recharge pattern is irregular.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your chances for future applications, you could request a smaller loan amount, such as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choose a longer repayment period of approximately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months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Both steps would lower your monthly instalment.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accordance with the RBI Fair Practices Code, we are providing these reasons for your application's decline in writing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046720" y="1965960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47888" y="2057400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Narrated by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47888" y="2295144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gemini-3.1-flash-lite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2770632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47888" y="2862072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47888" y="3099816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 seconds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3575304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47888" y="3666744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390448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46720" y="4379976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47888" y="4471416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4709160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CIC-04 · FPC-01 · DL-04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46720" y="5184648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47888" y="5276088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facts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5513832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 and 14 months are the recourse targets the model computed, re-scored against the real decision boundary — not figures the language model chose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guardrails actually stop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contradiction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declined and the generated text congratulates the applicant, the lender has mis-communicated a credit decision. Rejected, and the deterministic notice is served instead.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9" name="Shape 7"/>
          <p:cNvSpPr/>
          <p:nvPr/>
        </p:nvSpPr>
        <p:spPr>
          <a:xfrm>
            <a:off x="456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Applicant-influenced values reach the prompt. The system prompt states that the facts block is data, never instruction, and the assembled prompt is scanned before it is sent.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14" name="Shape 12"/>
          <p:cNvSpPr/>
          <p:nvPr/>
        </p:nvSpPr>
        <p:spPr>
          <a:xfrm>
            <a:off x="837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 leaving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phone and email patterns are detected inbound and outbound — and the guardrail's own log records the kind found, never the value.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11155680" cy="1417320"/>
          </a:xfrm>
          <a:prstGeom prst="roundRect">
            <a:avLst>
              <a:gd name="adj" fmla="val 5806"/>
            </a:avLst>
          </a:prstGeom>
          <a:solidFill>
            <a:srgbClr val="1340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guarantee is structural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902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from the applicant record. There is no code path by which a name, PAN or Aadhaar could reach a third-party model — and the API refuses a request carrying one with a 422. Data minimisation by construction, not by promise.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Guardrails, demonstrated against the live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scenarios run against the real service. In every blocked case the applicant still received the decision, the reasons, the recourse and the citations — the guardrail removes the wording, never the substance.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12848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5000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decline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55117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narrates. Nothing blocked.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228600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971800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44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not a top reason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101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carries only the top reason codes, so the poisoned value never reaches the model.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304495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reached it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3730752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4088" y="3867912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8039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a top reason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06908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reaches the prompt and the inbound guardrail rejects it.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8039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4489704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4088" y="4626864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4562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contradicts the decision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8280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congratulates an applicant the model declined.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6285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02920" y="5248656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04088" y="5385816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04088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leaks a phone number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55869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puts an identifier into applicant-facing text.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53218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02920" y="6053328"/>
            <a:ext cx="11155680" cy="603504"/>
          </a:xfrm>
          <a:prstGeom prst="roundRect">
            <a:avLst>
              <a:gd name="adj" fmla="val 13636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this demonstration corrected a claim we had wrong: scenario 2 was first recorded as a guardrail failure. It is not — nothing needed blocking, because nothing got through.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asked a model to attack the guardrails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round, a language model invents attacks it has never been shown, and is not told what the detectors look for. The guardrails are then hardened and tested again on fresh attacks.</a:t>
            </a:r>
            <a:endParaRPr lang="en-US" sz="1250" dirty="0"/>
          </a:p>
        </p:txBody>
      </p:sp>
      <p:pic>
        <p:nvPicPr>
          <p:cNvPr id="4" name="Image 0" descr="/Users/apple/pratyaya/docs/figures/red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3085" y="1481328"/>
            <a:ext cx="577535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asserted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harness turns the system's claims into numbers, regenerable in one command, with no API key or database required.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provision in top 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28 golden queries. 92.9% at rank 1, MRR 0.958. The two rank-1 misses are listed in the report.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0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6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16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6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23 adversarial and benign cases. Benign cases count equally — a guardrail that blocks valid explanations breaks the duty to give reasons.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73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0.0073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8% risk lands within 0.7 points of the observed rate, so the probability is usable for pricing, not just ranking.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75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31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331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89% coverage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31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invariants that were expensive to get right, not asserting that code runs.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14807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plainly: that guardrail F1 is on 23 cases I wrote myself. It shows the guardrails catch the attacks I anticipated — not that they catch all attacks.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 is not a latency trade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801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is made while an applicant waits, so the cost of every guarantee is a product constraint rather than a footnote. Measured per applicant on CPU, p50.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only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01000" y="21488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3.18 ms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15768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exact SHAP reason codes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7157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3.52 ms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282696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82696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governing provisions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2826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2.93 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3849624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84962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full compliant notice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384962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3.68 ms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416552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416552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actionable recourse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441655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75.92 ms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 cost 0.34 ms.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explained, cited decision lands in about 10 ms — about 86 ms when it also computes recourse.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2233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model is excluded.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off the decision path and its latency belongs to a third-party API. Measured separately: 2.8 s mean, 10 of 10 live calls.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decisions worth defending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under “or equivalent”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layered shape as Spring Boot: router → service → repository, Pydantic DTOs, generated OpenAPI. Chosen to be defensible in review, not to avoid Java.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68952" y="1554480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compiled system dependency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and XGBoost link libomp on macOS and fail without Homebrew — for us and for a grader. scikit-learn installs anywhere.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2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is signal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absent bureau score is not a data defect to impute away — it is the defining fact about a thin-file applicant. It reaches the model as NaN.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Bedrock-ready, honestly labelled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5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providers behind one interface, selected by env var. The Bedrock adapter is wired but never run live — we had no AWS access, and this deck says so.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1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68952" y="402336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6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⚿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6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default; a placeholder JWT secret fails startup. Role-scoped responses omit internals rather than nulling them.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2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7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37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run locally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on CPU: no text leaves the machine, no per-query cost, and deterministic vectors so an audited retrieval can be reproduced later.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alternative data legally reaches a lender in India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Aggregator framework is the consented rail this data travels on. Modelling it properly is what separates “we use alternative data” from a system a regulator would recognise.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9224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E3F0E9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9224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consent, and may revoke it at any time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40380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7852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34156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534156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FFFFFF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534156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the data and may not read, store or resell it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25312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72784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19088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FIPs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FFFFFF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19088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only what the consent artefact names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810244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57716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304020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(FIU)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304020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E3F0E9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304020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use it only for the purpose recorded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2907792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 ARTEFACT RECORDS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9224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assessment, and nothing else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59659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05963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2905963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accounts named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1639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16270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16270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expiry, not indefinite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27313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41944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41944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it may be pulled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529877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676181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Revocation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676181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withdrawable at any time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42245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[DL-02]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must be need-based and consented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02920" y="46451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6817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[AA-05]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limitation binds the recipient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02920" y="51023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02920" y="51389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[DPDP-04]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personal data necessary may be collected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02920" y="55595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2920" y="55961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is freely revocable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02920" y="60167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never receives an identifier: no name, PAN, Aadhaar or phone number, and the API refuses a request that carries one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privacy, by construction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155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a structural property rather than a policy someone has to remember.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5" name="Shape 3"/>
          <p:cNvSpPr/>
          <p:nvPr/>
        </p:nvSpPr>
        <p:spPr>
          <a:xfrm>
            <a:off x="740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0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9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identifier can reach a third party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the applicant record. There is no code path by which a name, PAN or Aadhaar could be sent to a provider.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0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55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4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refuses data it does not need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extra="forbid" on the request schema, so an application carrying a PAN is rejected with a 422 rather than quietly accepted and ignored.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40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0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9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usable default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40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placeholder JWT secret fails startup. Demo passwords absent from the environment are generated per run and printed once.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55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55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4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omit rather than blank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55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response carries no trace of the probability, threshold, contributions or provenance — the fields are absent, not nulled.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40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0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9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do not leak internals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40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Unhandled exceptions are logged in full and returned as a bare 500. Stack traces and file paths never cross the HTTP boundary.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30" name="Shape 28"/>
          <p:cNvSpPr/>
          <p:nvPr/>
        </p:nvSpPr>
        <p:spPr>
          <a:xfrm>
            <a:off x="6455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55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004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never leave the host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6455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Applicant-facing text is embedded locally through ONNX, so retrieval involves no third-party call at all.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knew, and what we did about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constraints shaped this build. Both are stated here because a reviewer would find them in ten minutes, and because what was done about each is the more interesting half.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1920240"/>
          </a:xfrm>
          <a:prstGeom prst="roundRect">
            <a:avLst>
              <a:gd name="adj" fmla="val 4286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8105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62456" y="179222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population is generated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62456" y="2176272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362456" y="23957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borrowers. That data is personal financial information and is not published, so the alternative was not real data but a foreign dataset relabelled.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217627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2395728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was run over 30,000 real defaults. The accuracy claim replicated: AUC 0.7711 → 0.7829, bad rate down. Our synthetic difficulty sits between two real datasets, and the fairness claim's precondition is stated precisely enough that a lender could test it against their own book in an afternoon.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694176"/>
            <a:ext cx="11155680" cy="1920240"/>
          </a:xfrm>
          <a:prstGeom prst="roundRect">
            <a:avLst>
              <a:gd name="adj" fmla="val 4286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58952" y="39319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8952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62456" y="391363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corpus is paraphrased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62456" y="429768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362456" y="4517136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provision is a plain-language summary carrying a citation to the instrument it summarises, labelled as such in the corpus README, the model card and this deck.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528816" y="4297680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4517136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was the deliberate choice, not a shortcut. Seeding a retrieval corpus with invented quotations from RBI circulars would commit precisely the hallucination this architecture exists to prevent, and would not survive a reader who knows the regulations. Production ingests the official texts; the retrieval, chunking, citation and audit machinery is unchanged.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5852160"/>
            <a:ext cx="11155680" cy="640080"/>
          </a:xfrm>
          <a:prstGeom prst="roundRect">
            <a:avLst>
              <a:gd name="adj" fmla="val 12857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97103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the brief asked for is running in production: React on Vercel, FastAPI and PostgreSQL with pgvector in Singapore, and a live language model behind guardrails.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this deck is running, and open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 on a laptop. Every figure quoted here regenerates from a committed script, and the system serves real decisions over the public internet.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1389888"/>
          </a:xfrm>
          <a:prstGeom prst="roundRect">
            <a:avLst>
              <a:gd name="adj" fmla="val 5921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0078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SYSTEM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568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323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as  underwriter / demo-underwriter-pw  for the full decision, or  applicant / demo-applicant-pw  for the view a borrower receives.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72384"/>
            <a:ext cx="11155680" cy="1389888"/>
          </a:xfrm>
          <a:prstGeom prst="roundRect">
            <a:avLst>
              <a:gd name="adj" fmla="val 5921"/>
            </a:avLst>
          </a:prstGeom>
          <a:solidFill>
            <a:srgbClr val="16232E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23697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4930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6849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Public. 34 commits, CI green on every push, 136 tests, README with setup for the API and the interface, and a model card.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04088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guarding the invariants that were expensive to get right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42132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43300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3543300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543300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regenerated from a committed measurement file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1344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82512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82512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in pgvector and cited per decision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20556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221724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221724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committed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221724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credential read from the environment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is on a free tier that sleeps when idle; a scheduled request every ten minutes keeps it warm, so the link responds immediately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things I would do with a real portfolio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18928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inclusion experiment on real data.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is a hypothesis with supporting evidence, not a measurement of the market.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24963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reject inference.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only observed for those past policy approved, so the training population is censored.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815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309981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alternative-data drift.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behaviour shifts within a quarter; bureau data does not.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37033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against a WOE scorecard.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Indian credit teams actually review and sign off.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28853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43068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official regulatory texts.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per-clause identifiers and effective dates, so citations carry versions.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4974336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497433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auditable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0" y="4974336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0" y="497433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reasons are exact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12280" y="4974336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12280" y="497433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applicant gets a plan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5650992"/>
            <a:ext cx="11155680" cy="658368"/>
          </a:xfrm>
          <a:prstGeom prst="roundRect">
            <a:avLst>
              <a:gd name="adj" fmla="val 13889"/>
            </a:avLst>
          </a:prstGeom>
          <a:solidFill>
            <a:srgbClr val="1C2F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65099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CODE  </a:t>
            </a:r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Pratyaya - Explainable Credit Risk</dc:title>
  <dc:subject>PptxGenJS Presentation</dc:subject>
  <dc:creator>Swaraj</dc:creator>
  <cp:lastModifiedBy>Swaraj</cp:lastModifiedBy>
  <cp:revision>1</cp:revision>
  <dcterms:created xsi:type="dcterms:W3CDTF">2026-09-21T19:45:18Z</dcterms:created>
  <dcterms:modified xsi:type="dcterms:W3CDTF">2026-09-21T19:45:18Z</dcterms:modified>
</cp:coreProperties>
</file>