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here. The name is the argument in miniature: credit is belief, and for a thin-file borrower the problem is not that the belief is misplaced, it is that nobody has ever looked.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word is unobserved. This is a measurement failure that looks like a risk judgement.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reframes the whole problem. Most fairness work treats bias as a property of the model and reaches for a constrained optimiser. Here the model is behaving reasonably on the data it has. The data is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they remember one slide, it should be this one. In regulated lending, a model that cannot be held to its output cannot be on the decision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it left to right along the top, then down. The point of the layout is that everything green completes before anything amber is called.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 to be challenged on synthetic data. The answer is that the alternative is not real data, it is a US or Czech dataset relabelled as Indian. And ground truth is what lets us prove the mechanism.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Holding approval rate constant matters. Otherwise a model could look fairer simply by approving more people.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the bad rate falling. The inclusive model approves a fairer mix and takes on less risk doing it, because it is seeing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to slow down on. It converts a fairness metric into a sentence about people, which is what a credit committee actually decides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0.24 story is worth telling. It shows the difference between a system that displays an explanation and one that can defend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Derived features are excluded deliberately. Lower your instalment-to-income ratio is not an action; borrow less and repay over longer are, and both are offered.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CIC-04 is the one to point at: the regulation itself says absence of history is not adverse history. The architecture is enforcing something the law already asserts.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Detection is defence in depth. The real guarantee is that the sensitive data is never in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Volunteer the caveat before anyone asks. A candidate who marks their own homework and says so is more trustworthy than one reporting a perfect score.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of these is a trade-off with a reason attached. That is what separates a considered build from a generated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Saying this out loud is a strength. Every limitation here is one a reviewer would find in ten minutes anyway.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three chips. They are the promise of the system in nine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6692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SYNCHRONY HACKATHON  ·  PROBLEM STATEMENT 2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71600"/>
            <a:ext cx="11155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Pratyaya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697480"/>
            <a:ext cx="8595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Explainable, fairness-audited credit assessment for thin-file and new-to-credit borrowers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02920" y="379476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22333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3794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decisions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081528" y="379476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223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081528" y="3794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reasons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0136" y="379476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22333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0136" y="3794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Actionable recourse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4892040"/>
            <a:ext cx="3840480" cy="0"/>
          </a:xfrm>
          <a:prstGeom prst="line">
            <a:avLst/>
          </a:prstGeom>
          <a:noFill/>
          <a:ln w="12700">
            <a:solidFill>
              <a:srgbClr val="3A4B5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2920" y="51206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Pratyaya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93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(प्रत्यय) — Sanskrit for trust. The word </a:t>
            </a:r>
            <a:pPr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93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descends from Latin </a:t>
            </a:r>
            <a:pPr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credere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93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to believe.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93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name the same thing: a lender's belief that a borrower will repay.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Underwriting reads a file that does not exist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2588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applicant who has never borrowed formally has no bureau record. They are declined not for being risky, but for being unobserved — and because they are declined, they never generate the history that would let them be seen next time.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468880"/>
            <a:ext cx="3535680" cy="278892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58952" y="2724912"/>
            <a:ext cx="3023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59%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3511296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portfolio is new-to-credit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3968496"/>
            <a:ext cx="302361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bureau score, no credit history length. Nothing for a traditional model to read.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12920" y="2468880"/>
            <a:ext cx="3535680" cy="278892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68952" y="2724912"/>
            <a:ext cx="3023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B27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70.6 / 51.0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568952" y="3511296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vs men, new-to-credit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4568952" y="3968496"/>
            <a:ext cx="302361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evidence is not evenly distributed, so a bureau-led model inherits the skew wholesale.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22920" y="2468880"/>
            <a:ext cx="3535680" cy="278892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378952" y="2724912"/>
            <a:ext cx="3023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B27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67.5 / 51.8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8378952" y="3511296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rural vs metro, new-to-credit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8378952" y="3968496"/>
            <a:ext cx="302361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mechanism on a second axis. The exclusion is self-sealing.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from the project's reference population of 30,000 applicants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6B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2344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INSIGHT THE WHOLE BUILD RESTS 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82880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600"/>
              </a:lnSpc>
              <a:buNone/>
            </a:pPr>
            <a:r>
              <a:rPr lang="en-US" sz="4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bias is not in the algorithm.</a:t>
            </a:r>
            <a:endParaRPr lang="en-US" sz="46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 in the evidence.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88620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D3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and rural applicants in this population repay at the same rate as everyone else — 11.8% against 12.2%. What differs is how much of their financial life the lender can see. Fix the evidence and you fix the disparity, without ever touching the decision rule.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ARCHITECTURAL DECISION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49808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language model sits on the explanation path, never the decision path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3535680" cy="2331720"/>
          </a:xfrm>
          <a:prstGeom prst="roundRect">
            <a:avLst>
              <a:gd name="adj" fmla="val 3529"/>
            </a:avLst>
          </a:prstGeom>
          <a:solidFill>
            <a:srgbClr val="E3F0E9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240487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58952" y="2404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9535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decides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3410712"/>
            <a:ext cx="302361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calibrated gradient-boosted model. Deterministic, auditable, reproducible. Its output is final before any language model is called.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2920" y="2148840"/>
            <a:ext cx="3535680" cy="2331720"/>
          </a:xfrm>
          <a:prstGeom prst="roundRect">
            <a:avLst>
              <a:gd name="adj" fmla="val 3529"/>
            </a:avLst>
          </a:prstGeom>
          <a:solidFill>
            <a:srgbClr val="FBEFDC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68952" y="2404872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68952" y="2404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29535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narrates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568952" y="3410712"/>
            <a:ext cx="302361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language model rewrites the finished notice more warmly, grounded in retrieved regulation, and only if its output passes a guardrail.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22920" y="2148840"/>
            <a:ext cx="353568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78952" y="2404872"/>
            <a:ext cx="384048" cy="384048"/>
          </a:xfrm>
          <a:prstGeom prst="ellipse">
            <a:avLst/>
          </a:prstGeom>
          <a:solidFill>
            <a:srgbClr val="1623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78952" y="2404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378952" y="29535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buys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378952" y="3410712"/>
            <a:ext cx="302361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hallucination, an outage, an exhausted quota or a change of vendor can alter how a decision is described. None can alter what it is.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4800600"/>
            <a:ext cx="11155680" cy="868680"/>
          </a:xfrm>
          <a:prstGeom prst="roundRect">
            <a:avLst>
              <a:gd name="adj" fmla="val 9474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77240" y="4919472"/>
            <a:ext cx="106070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returns a complete, compliant decision with reasons, recourse and citations even with no API key configured at all. That is not a fallback bolted on late; it is the ordering of the pipeline.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request flows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02920" y="1417320"/>
            <a:ext cx="258318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21808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UI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04088" y="1938528"/>
            <a:ext cx="21808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 and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underwriter views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113532" y="1883664"/>
            <a:ext cx="219456" cy="256032"/>
          </a:xfrm>
          <a:prstGeom prst="rightArrow">
            <a:avLst/>
          </a:prstGeom>
          <a:solidFill>
            <a:srgbClr val="A8B4BC"/>
          </a:solidFill>
          <a:ln/>
        </p:spPr>
      </p:sp>
      <p:sp>
        <p:nvSpPr>
          <p:cNvPr id="7" name="Shape 5"/>
          <p:cNvSpPr/>
          <p:nvPr/>
        </p:nvSpPr>
        <p:spPr>
          <a:xfrm>
            <a:off x="3360420" y="1417320"/>
            <a:ext cx="258318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561588" y="1572768"/>
            <a:ext cx="21808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561588" y="1938528"/>
            <a:ext cx="21808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auth, validation,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971032" y="1883664"/>
            <a:ext cx="219456" cy="256032"/>
          </a:xfrm>
          <a:prstGeom prst="rightArrow">
            <a:avLst/>
          </a:prstGeom>
          <a:solidFill>
            <a:srgbClr val="A8B4BC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0" y="1417320"/>
            <a:ext cx="2583180" cy="1188720"/>
          </a:xfrm>
          <a:prstGeom prst="roundRect">
            <a:avLst>
              <a:gd name="adj" fmla="val 6923"/>
            </a:avLst>
          </a:prstGeom>
          <a:solidFill>
            <a:srgbClr val="E3F0E9"/>
          </a:solidFill>
          <a:ln w="952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19088" y="1572768"/>
            <a:ext cx="21808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core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9088" y="1938528"/>
            <a:ext cx="21808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booster →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TreeSHAP → recourse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828532" y="1883664"/>
            <a:ext cx="219456" cy="256032"/>
          </a:xfrm>
          <a:prstGeom prst="rightArrow">
            <a:avLst/>
          </a:prstGeom>
          <a:solidFill>
            <a:srgbClr val="A8B4BC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5420" y="1417320"/>
            <a:ext cx="258318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276588" y="1572768"/>
            <a:ext cx="21808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pgvector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276588" y="1938528"/>
            <a:ext cx="21808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provisions,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ONNX embeddings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" y="2834640"/>
            <a:ext cx="11155680" cy="868680"/>
          </a:xfrm>
          <a:prstGeom prst="roundRect">
            <a:avLst>
              <a:gd name="adj" fmla="val 9474"/>
            </a:avLst>
          </a:prstGeom>
          <a:solidFill>
            <a:srgbClr val="E3F0E9"/>
          </a:solidFill>
          <a:ln w="952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77240" y="2962656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notice — complete and compliant at this point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327355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codes, recourse and citations, rendered without any language model involved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931920"/>
            <a:ext cx="3840480" cy="1234440"/>
          </a:xfrm>
          <a:prstGeom prst="roundRect">
            <a:avLst>
              <a:gd name="adj" fmla="val 6667"/>
            </a:avLst>
          </a:prstGeom>
          <a:solidFill>
            <a:srgbClr val="F7E5E4"/>
          </a:solidFill>
          <a:ln w="9525">
            <a:solidFill>
              <a:srgbClr val="A3302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31520" y="409651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4407408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· prompt injection · decision contradiction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617720" y="3931920"/>
            <a:ext cx="7040880" cy="1234440"/>
          </a:xfrm>
          <a:prstGeom prst="roundRect">
            <a:avLst>
              <a:gd name="adj" fmla="val 6667"/>
            </a:avLst>
          </a:prstGeom>
          <a:solidFill>
            <a:srgbClr val="FBEFDC"/>
          </a:solidFill>
          <a:ln w="9525">
            <a:solidFill>
              <a:srgbClr val="D8B478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846320" y="409651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provider — optional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846320" y="4407408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· Groq · Ollama · Bedrock, selected by one environment variable. Rejected output falls back to the notice above.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components are load-bearing. The amber one can fail without consequence to the decision.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data, and why it is synthetic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258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public dataset joins Account Aggregator-style alternative data to realised loan outcomes for Indian borrowers — that data is personal financial information and is not published. So the population is generated openly, with its assumptions written down and tested, rather than sourced from a proxy dataset and quietly relabelled.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606040"/>
            <a:ext cx="353568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286207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58952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34107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Causal, not correlational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3867912"/>
            <a:ext cx="302361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is driven by latent repayment capacity and willingness plus a large idiosyncratic shock. Observable features are noisy consequences of those latents — never rescaled copies of the label.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2920" y="2606040"/>
            <a:ext cx="353568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68952" y="286207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68952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34107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seeded biases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568952" y="3867912"/>
            <a:ext cx="302361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 records go missing more often for women and rural applicants; declared income is depressed for women. Neither touches true repayment.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22920" y="2606040"/>
            <a:ext cx="353568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78952" y="286207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78952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378952" y="34107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Guarded by tests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378952" y="3867912"/>
            <a:ext cx="302361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feature-to-label correlation 0.49. Equal true default rates across groups. Both asserted in the suite, so they fail loudly rather than drifting silently.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5212080"/>
            <a:ext cx="11155680" cy="731520"/>
          </a:xfrm>
          <a:prstGeom prst="roundRect">
            <a:avLst>
              <a:gd name="adj" fmla="val 11250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77240" y="5330952"/>
            <a:ext cx="10607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Knowing the ground truth is what makes the result provable. On a real portfolio a rejected applicant's counterfactual repayment is never observed, so the central claim could be argued but not measured.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05156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55448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models. Same data, same splits, same approval rate.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02920" y="3017520"/>
            <a:ext cx="5417820" cy="1600200"/>
          </a:xfrm>
          <a:prstGeom prst="roundRect">
            <a:avLst>
              <a:gd name="adj" fmla="val 5143"/>
            </a:avLst>
          </a:prstGeom>
          <a:solidFill>
            <a:srgbClr val="2233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95528" y="3218688"/>
            <a:ext cx="48326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621024"/>
            <a:ext cx="48326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details and the credit bureau record only — the information a conventional underwriter sees.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40780" y="3017520"/>
            <a:ext cx="5417820" cy="1600200"/>
          </a:xfrm>
          <a:prstGeom prst="roundRect">
            <a:avLst>
              <a:gd name="adj" fmla="val 5143"/>
            </a:avLst>
          </a:prstGeom>
          <a:solidFill>
            <a:srgbClr val="1340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33388" y="3218688"/>
            <a:ext cx="48326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Inclusive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533388" y="3621024"/>
            <a:ext cx="48326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same, plus consented alternative data: UPI cash-flow behaviour, utility punctuality, telecom tenure.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9834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rate is pinned at 70% for both, so the comparison is like-for-like. Any difference is the information, not the risk appetite.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Accuracy, risk and fairness moved together</a:t>
            </a:r>
            <a:endParaRPr lang="en-US" sz="3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15568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011680"/>
                <a:gridCol w="2377440"/>
                <a:gridCol w="192024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on held-out data, approval rate pinned at 70%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Bureau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Alternative data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 AUC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 statistic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0.3365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0.4127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+0.076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Bad rate among approved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− 0.012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Creditworthy NTC approved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0.7189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0.7361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Disparate impact, gender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+0.095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Qualified-approval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− 0.074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02920" y="1371600"/>
            <a:ext cx="11155680" cy="402336"/>
          </a:xfrm>
          <a:prstGeom prst="rect">
            <a:avLst/>
          </a:prstGeom>
          <a:solidFill>
            <a:srgbClr val="16232E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40080" y="1371600"/>
            <a:ext cx="4709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held-out data, approval rate pinned at 70%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5349240" y="137160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 only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371600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Alternative data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9738360" y="137160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02920" y="4983480"/>
            <a:ext cx="11155680" cy="731520"/>
          </a:xfrm>
          <a:prstGeom prst="roundRect">
            <a:avLst>
              <a:gd name="adj" fmla="val 1125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77240" y="5102352"/>
            <a:ext cx="10607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accuracy-versus-fairness trade-off here — which is the point. The disparity was never a property of the algorithm, so it did not have to be bought back with accuracy.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6B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6692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RESULT, STATED AS PEOPLE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00584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Among applicants who would have repaid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02920" y="2011680"/>
            <a:ext cx="5417820" cy="2926080"/>
          </a:xfrm>
          <a:prstGeom prst="roundRect">
            <a:avLst>
              <a:gd name="adj" fmla="val 3125"/>
            </a:avLst>
          </a:prstGeom>
          <a:solidFill>
            <a:srgbClr val="0A574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12848"/>
            <a:ext cx="47777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 only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33472"/>
            <a:ext cx="47777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70.9%</a:t>
            </a:r>
            <a:pPr indent="0" marL="0">
              <a:buNone/>
            </a:pPr>
            <a:r>
              <a:rPr lang="en-US" sz="1400" dirty="0">
                <a:solidFill>
                  <a:srgbClr val="A9E3C6"/>
                </a:solidFill>
              </a:rPr>
              <a:t>   women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73552"/>
            <a:ext cx="47777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81.7%</a:t>
            </a:r>
            <a:pPr indent="0" marL="0">
              <a:buNone/>
            </a:pPr>
            <a:r>
              <a:rPr lang="en-US" sz="1400" dirty="0">
                <a:solidFill>
                  <a:srgbClr val="A9E3C6"/>
                </a:solidFill>
              </a:rPr>
              <a:t>   men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005072"/>
            <a:ext cx="47777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FF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10.8-point penalty on women who would have paid the loan back.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40780" y="2011680"/>
            <a:ext cx="5417820" cy="2926080"/>
          </a:xfrm>
          <a:prstGeom prst="roundRect">
            <a:avLst>
              <a:gd name="adj" fmla="val 3125"/>
            </a:avLst>
          </a:prstGeom>
          <a:solidFill>
            <a:srgbClr val="0A574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60820" y="2212848"/>
            <a:ext cx="47777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Alternative data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560820" y="2633472"/>
            <a:ext cx="47777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75.5%</a:t>
            </a:r>
            <a:pPr indent="0" marL="0">
              <a:buNone/>
            </a:pPr>
            <a:r>
              <a:rPr lang="en-US" sz="1400" dirty="0">
                <a:solidFill>
                  <a:srgbClr val="A9E3C6"/>
                </a:solidFill>
              </a:rPr>
              <a:t>   women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560820" y="3273552"/>
            <a:ext cx="47777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78.9%</a:t>
            </a:r>
            <a:pPr indent="0" marL="0">
              <a:buNone/>
            </a:pPr>
            <a:r>
              <a:rPr lang="en-US" sz="1400" dirty="0">
                <a:solidFill>
                  <a:srgbClr val="A9E3C6"/>
                </a:solidFill>
              </a:rPr>
              <a:t>   men</a:t>
            </a:r>
            <a:endParaRPr lang="en-US" sz="3800" dirty="0"/>
          </a:p>
        </p:txBody>
      </p:sp>
      <p:sp>
        <p:nvSpPr>
          <p:cNvPr id="13" name="Text 11"/>
          <p:cNvSpPr txBox="1"/>
          <p:nvPr/>
        </p:nvSpPr>
        <p:spPr>
          <a:xfrm>
            <a:off x="6560820" y="4005072"/>
            <a:ext cx="47777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closes to 3.4 points — a 69% reduction.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51206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D3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creditworthy women approved. Fewer defaults among those approved. The people the old model missed were not bad risks; they were invisible ones.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7FB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truth: true default rates differ by 0.4 points across gender, so none of this gap is explained by risk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Reason codes that faithfully decompose the model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decline. Contributions in log-odds, aggregated back to features a person recognises.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874520"/>
            <a:ext cx="5669280" cy="3063240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21214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Days with very low balance</a:t>
            </a:r>
            <a:pPr indent="0" marL="0"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40 of 90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77240" y="2423160"/>
            <a:ext cx="5120640" cy="128016"/>
          </a:xfrm>
          <a:prstGeom prst="roundRect">
            <a:avLst>
              <a:gd name="adj" fmla="val 50000"/>
            </a:avLst>
          </a:prstGeom>
          <a:solidFill>
            <a:srgbClr val="EDF0EE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2423160"/>
            <a:ext cx="4069080" cy="128016"/>
          </a:xfrm>
          <a:prstGeom prst="roundRect">
            <a:avLst>
              <a:gd name="adj" fmla="val 50000"/>
            </a:avLst>
          </a:prstGeom>
          <a:solidFill>
            <a:srgbClr val="A3302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834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Utility bill punctuality</a:t>
            </a:r>
            <a:pPr indent="0" marL="0"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35%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36392"/>
            <a:ext cx="5120640" cy="128016"/>
          </a:xfrm>
          <a:prstGeom prst="roundRect">
            <a:avLst>
              <a:gd name="adj" fmla="val 50000"/>
            </a:avLst>
          </a:prstGeom>
          <a:solidFill>
            <a:srgbClr val="EDF0EE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3136392"/>
            <a:ext cx="1225296" cy="128016"/>
          </a:xfrm>
          <a:prstGeom prst="roundRect">
            <a:avLst>
              <a:gd name="adj" fmla="val 50000"/>
            </a:avLst>
          </a:prstGeom>
          <a:solidFill>
            <a:srgbClr val="A3302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54787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Income regularity</a:t>
            </a:r>
            <a:pPr indent="0" marL="0"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26%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3849624"/>
            <a:ext cx="5120640" cy="128016"/>
          </a:xfrm>
          <a:prstGeom prst="roundRect">
            <a:avLst>
              <a:gd name="adj" fmla="val 50000"/>
            </a:avLst>
          </a:prstGeom>
          <a:solidFill>
            <a:srgbClr val="EDF0EE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3849624"/>
            <a:ext cx="539496" cy="128016"/>
          </a:xfrm>
          <a:prstGeom prst="roundRect">
            <a:avLst>
              <a:gd name="adj" fmla="val 50000"/>
            </a:avLst>
          </a:prstGeom>
          <a:solidFill>
            <a:srgbClr val="A3302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42611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 ·  declared income</a:t>
            </a:r>
            <a:pPr indent="0" marL="0"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₹5,000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562856"/>
            <a:ext cx="5120640" cy="128016"/>
          </a:xfrm>
          <a:prstGeom prst="roundRect">
            <a:avLst>
              <a:gd name="adj" fmla="val 50000"/>
            </a:avLst>
          </a:prstGeom>
          <a:solidFill>
            <a:srgbClr val="EDF0EE"/>
          </a:solidFill>
          <a:ln/>
        </p:spPr>
      </p:sp>
      <p:sp>
        <p:nvSpPr>
          <p:cNvPr id="16" name="Shape 14"/>
          <p:cNvSpPr/>
          <p:nvPr/>
        </p:nvSpPr>
        <p:spPr>
          <a:xfrm>
            <a:off x="777240" y="4562856"/>
            <a:ext cx="1014984" cy="128016"/>
          </a:xfrm>
          <a:prstGeom prst="roundRect">
            <a:avLst>
              <a:gd name="adj" fmla="val 50000"/>
            </a:avLst>
          </a:prstGeom>
          <a:solidFill>
            <a:srgbClr val="0E6B4F"/>
          </a:solidFill>
          <a:ln/>
        </p:spPr>
      </p:sp>
      <p:sp>
        <p:nvSpPr>
          <p:cNvPr id="17" name="Shape 15"/>
          <p:cNvSpPr/>
          <p:nvPr/>
        </p:nvSpPr>
        <p:spPr>
          <a:xfrm>
            <a:off x="6446520" y="1874520"/>
            <a:ext cx="5212080" cy="1371600"/>
          </a:xfrm>
          <a:prstGeom prst="roundRect">
            <a:avLst>
              <a:gd name="adj" fmla="val 600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720840" y="202996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5.2 × 10⁻¹⁵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6720840" y="257860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TreeSHAP additivity error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720840" y="285292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C4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 codes sum exactly to the model's output. They are the decomposition, not an approximation of it.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46520" y="3429000"/>
            <a:ext cx="5212080" cy="1508760"/>
          </a:xfrm>
          <a:prstGeom prst="roundRect">
            <a:avLst>
              <a:gd name="adj" fmla="val 5455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720840" y="3584448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earlier build let the booster split categoricals natively. TreeSHAP mis-attributed those splits by up to 0.24 log-odds — enough to reorder an applicant's reasons. One-hot encoding every split cost 0.001 AUC and made the attribution exact. Under the Fair Practices Code an unfaithful reason is a compliance failure, not a cosmetic one.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decline that comes with a plan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option below is a genuine counterfactual: the feature is moved, the applicant is re-scored by the same model, and only changes that actually flip the decision are shown.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240280"/>
            <a:ext cx="3535680" cy="242316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249631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58952" y="2496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3044952"/>
            <a:ext cx="3023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Requested amount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₹97,300  →  ₹43,100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3685032"/>
            <a:ext cx="302361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Requesting less lowers the monthly instalment.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2920" y="2240280"/>
            <a:ext cx="3535680" cy="242316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68952" y="249631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68952" y="2496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3044952"/>
            <a:ext cx="3023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Tenure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months  →  14 months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4568952" y="3685032"/>
            <a:ext cx="302361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longer term reduces each instalment.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22920" y="2240280"/>
            <a:ext cx="3535680" cy="242316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78952" y="2496312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78952" y="2496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378952" y="3044952"/>
            <a:ext cx="3023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Recharge regularity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34%  →  40%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8378952" y="3685032"/>
            <a:ext cx="302361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consistent recharge schedule builds this signal. Takes one to three months.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4846320"/>
            <a:ext cx="5440680" cy="960120"/>
          </a:xfrm>
          <a:prstGeom prst="roundRect">
            <a:avLst>
              <a:gd name="adj" fmla="val 8571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58952" y="4956048"/>
            <a:ext cx="49286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what they can move.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Age, education and employment sector are never suggested. Advising someone to be older is not recourse.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17920" y="4846320"/>
            <a:ext cx="5440680" cy="960120"/>
          </a:xfrm>
          <a:prstGeom prst="roundRect">
            <a:avLst>
              <a:gd name="adj" fmla="val 8571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73952" y="4956048"/>
            <a:ext cx="49286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what they can reach.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are capped at the 85th percentile of the population, and “no attainable change” is reported honestly rather than padded.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features are excluded deliberately: “lower your instalment-to-income ratio” is not an action; borrow less and repay over longer are, and both are offered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regulation demanded the feature anyway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provisions from five Indian instruments, embedded locally and retrieved per decision, so every notice cites the rule that governs it.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194560"/>
            <a:ext cx="204825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04088" y="237744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04088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04088" y="28529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Fair Practices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04088" y="329184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Reasons for rejection must be conveyed — automated or not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79776" y="2194560"/>
            <a:ext cx="204825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980944" y="237744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80944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980944" y="28529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Digital Lending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2980944" y="329184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Need-based data, Key Fact Statement, explainable models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56632" y="2194560"/>
            <a:ext cx="204825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257800" y="237744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257800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257800" y="28529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Act 2023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257800" y="329184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Consent, purpose limitation, minimisation, erasure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333488" y="2194560"/>
            <a:ext cx="204825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534656" y="237744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534656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534656" y="28529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Aggregator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7534656" y="329184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consented rail alternative data legally travels 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610344" y="2194560"/>
            <a:ext cx="204825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811512" y="237744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811512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11512" y="28529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 Act 2005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9811512" y="329184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a bureau record is not adverse history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02920" y="4251960"/>
            <a:ext cx="11155680" cy="1143000"/>
          </a:xfrm>
          <a:prstGeom prst="roundRect">
            <a:avLst>
              <a:gd name="adj" fmla="val 720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777240" y="438912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 FOR A LIVE DECLINE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77240" y="46634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[FPC-01]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Reasons for rejection must be communicated    </a:t>
            </a:r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[DL-04]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Borrower's right to reject data collection    </a:t>
            </a:r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[CIC-04]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a bureau record is not evidence of poor credit conduct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Provisions are labelled paraphrases citing the real instrument — seeding a corpus with invented quotations would be the hallucination this design prevents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guardrails actually stop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02920" y="1463040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22333F"/>
          </a:solidFill>
          <a:ln/>
        </p:spPr>
      </p:sp>
      <p:sp>
        <p:nvSpPr>
          <p:cNvPr id="4" name="Shape 2"/>
          <p:cNvSpPr/>
          <p:nvPr/>
        </p:nvSpPr>
        <p:spPr>
          <a:xfrm>
            <a:off x="758952" y="1691640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58952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2212848"/>
            <a:ext cx="3023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9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contradiction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578608"/>
            <a:ext cx="30236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model declined and the generated text congratulates the applicant, the lender has mis-communicated a credit decision. Rejected, and the deterministic notice is served instead.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12920" y="1463040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22333F"/>
          </a:solidFill>
          <a:ln/>
        </p:spPr>
      </p:sp>
      <p:sp>
        <p:nvSpPr>
          <p:cNvPr id="9" name="Shape 7"/>
          <p:cNvSpPr/>
          <p:nvPr/>
        </p:nvSpPr>
        <p:spPr>
          <a:xfrm>
            <a:off x="4568952" y="1691640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68952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68952" y="2212848"/>
            <a:ext cx="3023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9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2578608"/>
            <a:ext cx="30236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Applicant-influenced values reach the prompt. The system prompt states that the facts block is data, never instruction, and the assembled prompt is scanned before it is sent.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22920" y="1463040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22333F"/>
          </a:solidFill>
          <a:ln/>
        </p:spPr>
      </p:sp>
      <p:sp>
        <p:nvSpPr>
          <p:cNvPr id="14" name="Shape 12"/>
          <p:cNvSpPr/>
          <p:nvPr/>
        </p:nvSpPr>
        <p:spPr>
          <a:xfrm>
            <a:off x="8378952" y="1691640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78952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378952" y="2212848"/>
            <a:ext cx="3023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9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data leaving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8378952" y="2578608"/>
            <a:ext cx="30236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Aadhaar, PAN, phone and email patterns are detected inbound and outbound — and the guardrail's own log records the kind found, never the value.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" y="4069080"/>
            <a:ext cx="11155680" cy="1417320"/>
          </a:xfrm>
          <a:prstGeom prst="roundRect">
            <a:avLst>
              <a:gd name="adj" fmla="val 5806"/>
            </a:avLst>
          </a:prstGeom>
          <a:solidFill>
            <a:srgbClr val="1340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2960" y="42519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stronger guarantee is structural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590288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is assembled only from the decision object, never from the applicant record. There is no code path by which a name, PAN or Aadhaar could reach a third-party model — and the API refuses a request carrying one with a 422. Data minimisation by construction, not by promise.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Measured, not asserted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evaluation harness turns the system's claims into numbers, regenerable in one command, with no API key or database required.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176272"/>
            <a:ext cx="2583180" cy="2670048"/>
          </a:xfrm>
          <a:prstGeom prst="roundRect">
            <a:avLst>
              <a:gd name="adj" fmla="val 318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58952" y="2432304"/>
            <a:ext cx="20711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3218688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provision in top 3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3675888"/>
            <a:ext cx="207111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28 golden queries. 92.9% at rank 1, MRR 0.958. The two rank-1 misses are listed in the report.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60420" y="2176272"/>
            <a:ext cx="2583180" cy="2670048"/>
          </a:xfrm>
          <a:prstGeom prst="roundRect">
            <a:avLst>
              <a:gd name="adj" fmla="val 318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16452" y="2432304"/>
            <a:ext cx="20711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1.000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3616452" y="3218688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F1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616452" y="3675888"/>
            <a:ext cx="207111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23 adversarial and benign cases. Benign cases count equally — a guardrail that blocks valid explanations breaks the duty to give reasons.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2176272"/>
            <a:ext cx="2583180" cy="2670048"/>
          </a:xfrm>
          <a:prstGeom prst="roundRect">
            <a:avLst>
              <a:gd name="adj" fmla="val 318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73952" y="2432304"/>
            <a:ext cx="20711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0.0073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6473952" y="3218688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calibration error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3675888"/>
            <a:ext cx="207111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stated 8% risk lands within 0.7 points of the observed rate, so the probability is usable for pricing, not just ranking.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075420" y="2176272"/>
            <a:ext cx="2583180" cy="2670048"/>
          </a:xfrm>
          <a:prstGeom prst="roundRect">
            <a:avLst>
              <a:gd name="adj" fmla="val 318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331452" y="2432304"/>
            <a:ext cx="20711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103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9331452" y="3218688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89% coverage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331452" y="3675888"/>
            <a:ext cx="207111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Defending the invariants that were expensive to get right, not asserting that code runs.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5029200"/>
            <a:ext cx="11155680" cy="731520"/>
          </a:xfrm>
          <a:prstGeom prst="roundRect">
            <a:avLst>
              <a:gd name="adj" fmla="val 11250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77240" y="5148072"/>
            <a:ext cx="10607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plainly: that guardrail F1 is on 23 cases I wrote myself. It shows the guardrails catch the attacks I anticipated — not that they catch all attacks.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1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Engineering decisions worth defending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02920" y="129844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58952" y="155448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58952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210312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FastAPI, under “or equivalent”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56032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layered shape as Spring Boot: router → service → repository, Pydantic DTOs, generated OpenAPI. Chosen to be defensible in review, not to avoid Java.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12920" y="129844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68952" y="1554480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68952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68952" y="210312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compiled system dependency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256032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and XGBoost link libomp on macOS and fail without Homebrew — for us and for a grader. scikit-learn installs anywhere.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22920" y="129844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78952" y="155448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78952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∅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378952" y="210312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Missingness is signal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8378952" y="256032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absent bureau score is not a data defect to impute away — it is the defining fact about a thin-file applicant. It reaches the model as NaN.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376732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58952" y="402336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58952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58952" y="457200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Bedrock-ready, honestly labelled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758952" y="502920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providers behind one interface, selected by env var. The Bedrock adapter is wired but never run live — we had no AWS access, and this deck says so.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312920" y="376732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68952" y="4023360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68952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⚿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568952" y="457200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posture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4568952" y="502920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secret has a default; a placeholder JWT secret fails startup. Role-scoped responses omit internals rather than nulling them.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122920" y="376732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378952" y="402336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378952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◉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8378952" y="457200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run locally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8378952" y="502920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 on CPU: no text leaves the machine, no per-query cost, and deterministic vectors so an audited retrieval can be reproduced later.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is not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02920" y="1417320"/>
            <a:ext cx="11155680" cy="123444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618488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618488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population is synthetic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984248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figures describe this population, not the Indian credit market. The direction of the result follows from a mechanism — bureau absence correlates with gender and region while true risk does not — that is well documented in the real world.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2898648"/>
            <a:ext cx="11155680" cy="123444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3099816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3099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099816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regulatory corpus is paraphrased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465576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summaries citing real instruments, labelled as such. Production would ingest the official texts with per-clause identifiers; the retrieval machinery is unchanged by that substitution.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4379976"/>
            <a:ext cx="11155680" cy="123444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4581144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" y="45811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4581144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cloud layer is designed, not provisioned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4946904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live deployment, and the Bedrock adapter has never run against a real endpoint. Both are stated in the README rather than implied away.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029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GOES NEXT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things I would do with a real portfolio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87452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69848" y="189280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the inclusion experiment on real data.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finding is a hypothesis with supporting evidence, not a measurement of the market.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478024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02920" y="2478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69848" y="249631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reject inference.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Repayment is only observed for those past policy approved, so the training population is censored.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3081528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2920" y="3081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69848" y="3099816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alternative-data drift.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UPI behaviour shifts within a quarter; bureau data does not.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68503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02920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69848" y="370332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Champion/challenger against a WOE scorecard.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format Indian credit teams actually review and sign off.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" y="4288536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2920" y="4288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69848" y="4306824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official regulatory texts.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per-clause identifiers and effective dates, so citations carry versions.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02920" y="5212080"/>
            <a:ext cx="2926080" cy="502920"/>
          </a:xfrm>
          <a:prstGeom prst="roundRect">
            <a:avLst>
              <a:gd name="adj" fmla="val 49091"/>
            </a:avLst>
          </a:prstGeom>
          <a:solidFill>
            <a:srgbClr val="1340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02920" y="52120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is auditable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0" y="5212080"/>
            <a:ext cx="2926080" cy="502920"/>
          </a:xfrm>
          <a:prstGeom prst="roundRect">
            <a:avLst>
              <a:gd name="adj" fmla="val 49091"/>
            </a:avLst>
          </a:prstGeom>
          <a:solidFill>
            <a:srgbClr val="13403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657600" y="52120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reasons are exact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812280" y="5212080"/>
            <a:ext cx="2926080" cy="502920"/>
          </a:xfrm>
          <a:prstGeom prst="roundRect">
            <a:avLst>
              <a:gd name="adj" fmla="val 49091"/>
            </a:avLst>
          </a:prstGeom>
          <a:solidFill>
            <a:srgbClr val="1340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812280" y="52120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applicant gets a plan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Pratyaya - Explainable Credit Risk</dc:title>
  <dc:subject>PptxGenJS Presentation</dc:subject>
  <dc:creator>Swaraj</dc:creator>
  <cp:lastModifiedBy>Swaraj</cp:lastModifiedBy>
  <cp:revision>1</cp:revision>
  <dcterms:created xsi:type="dcterms:W3CDTF">2026-09-20T21:42:06Z</dcterms:created>
  <dcterms:modified xsi:type="dcterms:W3CDTF">2026-09-20T21:42:06Z</dcterms:modified>
</cp:coreProperties>
</file>