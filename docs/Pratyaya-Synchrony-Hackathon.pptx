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The name is the argument in miniature: credit is belief, and for a thin-file borrower the problem is not that the belief is misplaced, it is that nobody has ever looked.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word is unobserved. This is a measurement failure that looks like a risk judgement.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reframes the whole problem. Most fairness work treats bias as a property of the model and reaches for a constrained optimiser. Here the model is behaving reasonably on the data it has. The data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remember one slide, it should be this one. In regulated lending, a model that cannot be held to its output cannot be on the decision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the bands. The point to land: everything green completes before anything amber is called, so the amber row can fail entirely and the applicant still receives a correct, compliant, cited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black bar is the slide. Everything above it is finished before anything below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to be challenged on synthetic data. The answer is that the alternative is not real data, it is a US or Czech dataset relabelled as Indian. And ground truth is what lets us prove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this when challenged on synthetic data. The machinery is validated on real defaults; only the inclusion comparison needs the generator. Note we report the scope limit ourselves.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Holding approval rate constant matters. Otherwise a model could look fairer simply by approving more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bad rate falling. The inclusive model approves a fairer mix and takes on less risk doing it, because it is seeing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ROC curves on held-out applicants. The gain is largest in the region where most lending decisions are actually made.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slow down on. It converts a fairness metric into a sentence about people, which is what a credit committee actually decides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'reads gender to decide' column is the point a fair-lending reviewer will care about. A remedy that applies a different threshold by group is disparate treatment, not a cure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0.24 story is worth telling. It shows the difference between a system that displays an explanation and one that can defend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importances or approximations. They are the model’s output taken apart and put back together, summing to within 5×10⁻¹⁵ of the score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Derived features are excluded deliberately. Lower your instalment-to-income ratio is not an action; borrow less and repay over longer are, and both are offered.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CIC-04 is the one to point at: the regulation itself says absence of history is not adverse history. The architecture is enforcing something the law already asserts.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two bracketed citations and the two rupee figures. The citations come from retrieval; the figures come from counterfactual search. The language model supplied only the sentences around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is defence in depth. The real guarantee is that the sensitive data is never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2 is the interesting one. Data minimisation is the primary defence and the guardrail is the backstop. Say that we found this by testing rather than by assuming.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the caveat before anyone asks. A candidate who marks their own homework and says so is more trustworthy than one reporting a perfect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0.34 ms number is the one to say out loud. It kills the assumption that a lender trades latency for explainability.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is a trade-off with a reason attached. That is what separates a considered build from a generated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India domain knowledge. Most submissions will say they use alternative data; almost none will name the rail it legally travels on or model the consent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phrase that matters is by construction. Every one of these is enforced by the shape of the code, not by a rule someone has to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Saying this out loud is a strength. Every limitation here is one a reviewer would find in ten minutes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chips. They are the promise of the system in nine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 HACKATHON  ·  PROBLEM STATEMENT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11155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Pratyaya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974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fairness-audited credit assessment for thin-file and new-to-credit borrowers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02920" y="3794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81528" y="3794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81528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reasons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0136" y="3794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22333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0136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recourse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4892040"/>
            <a:ext cx="3840480" cy="0"/>
          </a:xfrm>
          <a:prstGeom prst="line">
            <a:avLst/>
          </a:prstGeom>
          <a:noFill/>
          <a:ln w="12700">
            <a:solidFill>
              <a:srgbClr val="3A4B5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5120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Pratyaya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(प्रत्यय) — Sanskrit for trust. The word </a:t>
            </a:r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descends from Latin </a:t>
            </a:r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credere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believe.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93A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name the same thing: a lender's belief that a borrower will repay.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Underwriting reads a file that does not exist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who has never borrowed formally has no bureau record. They are declined not for being risky, but for being unobserved — and because they are declined, they never generate the history that would let them be seen next time.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portfolio is new-to-credit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bureau score, no credit history length. Nothing for a traditional model to read.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70.6 / 51.0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vs men, new-to-credit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evidence is not evenly distributed, so a bureau-led model inherits the skew wholesale.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22920" y="2468880"/>
            <a:ext cx="353568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8952" y="2724912"/>
            <a:ext cx="3023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27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67.5 / 51.8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78952" y="3511296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vs metro, new-to-credit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378952" y="3968496"/>
            <a:ext cx="302361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mechanism on a second axis. The exclusion is self-sealing.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the project's reference population of 30,000 applicants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people a bureau-led model cannot see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applicants with no credit bureau record at all, by group. Nothing here is about repayment — it is about visibility.</a:t>
            </a:r>
            <a:endParaRPr lang="en-US" sz="1250" dirty="0"/>
          </a:p>
        </p:txBody>
      </p:sp>
      <p:pic>
        <p:nvPicPr>
          <p:cNvPr id="4" name="Image 0" descr="/Users/apple/pratyaya/docs/figures/ntc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are new-to-credit 70.6% of the time against 51.0% for men; rural and tier-3 applicants 67.5% against 51.8% in metros. A model leaning on the bureau record inherits that gap wholesale, before it has learned anything about risk.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2344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THE WHOLE BUILD RESTS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is not in the algorithm.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in the evidence.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88620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rural applicants in this population repay at the same rate as everyone else — 11.8% against 12.2%. What differs is how much of their financial life the lender can see. Fix the evidence and you fix the disparity, without ever touching the decision rule.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ARCHITECTURAL DECISION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49808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language model sits on the explanation path, never the decision path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E3F0E9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048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decides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gradient-boosted model. Deterministic, auditable, reproducible. Its output is final before any language model is called.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BEFDC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0487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narrates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model rewrites the finished notice more warmly, grounded in retrieved regulation, and only if its output passes a guardrail.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148840"/>
            <a:ext cx="353568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04872"/>
            <a:ext cx="384048" cy="384048"/>
          </a:xfrm>
          <a:prstGeom prst="ellipse">
            <a:avLst/>
          </a:prstGeom>
          <a:solidFill>
            <a:srgbClr val="1623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9535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buys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410712"/>
            <a:ext cx="302361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hallucination, an outage, an exhausted quota or a change of vendor can alter how a decision is described. None can alter what it is.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returns a complete, compliant decision with reasons, recourse and citations even with no API key configured at all. That is not a fallback bolted on late; it is the ordering of the pipeline.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components are load-bearing: the decision and the compliant notice depend only on them. Amber is optional and can fail without consequence.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996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947672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2093976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applicant view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93976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decision, reasons, recourse, citations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876288" y="1298448"/>
            <a:ext cx="478231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22592" y="1353312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— underwriter view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022592" y="1600200"/>
            <a:ext cx="448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probability, SHAP contributions, provenance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2311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47672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093976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+ roles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90814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05445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validation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868619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014923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829093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975397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projection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789566" y="2029968"/>
            <a:ext cx="186903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935870" y="2029968"/>
            <a:ext cx="1576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logging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96265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947672" y="2761488"/>
            <a:ext cx="9710928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093976" y="28163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DecisionService — decide, explain, retrieve, render, then optionally narrate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2093976" y="3063240"/>
            <a:ext cx="941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is the architecture: a complete compliant answer exists before any model is called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369417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947672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093976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HistGradientBoosting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2093976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calibrated, handles NaN natively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215128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361432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361432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codes, error 5e-15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482584" y="349300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628888" y="354787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 search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628888" y="379476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2F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 re-scored by the model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44256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947672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2093976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2093976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Neon, Singapore · HNSW index · 37 provisions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848856" y="4224528"/>
            <a:ext cx="4809744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995160" y="42793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bge-small-en-v1.5 (ONNX)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995160" y="4526280"/>
            <a:ext cx="4517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computed locally, no text leaves the host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02920" y="51572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LAYER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947672" y="4956048"/>
            <a:ext cx="2913278" cy="658368"/>
          </a:xfrm>
          <a:prstGeom prst="roundRect">
            <a:avLst>
              <a:gd name="adj" fmla="val 9722"/>
            </a:avLst>
          </a:prstGeom>
          <a:solidFill>
            <a:srgbClr val="F7E5E4"/>
          </a:solidFill>
          <a:ln w="15875">
            <a:solidFill>
              <a:srgbClr val="A3302C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2093976" y="5010912"/>
            <a:ext cx="2620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2093976" y="5257800"/>
            <a:ext cx="26206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· injection · contradiction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52390" y="4956048"/>
            <a:ext cx="6706210" cy="658368"/>
          </a:xfrm>
          <a:prstGeom prst="roundRect">
            <a:avLst>
              <a:gd name="adj" fmla="val 9722"/>
            </a:avLst>
          </a:prstGeom>
          <a:solidFill>
            <a:srgbClr val="FBEFDC"/>
          </a:solidFill>
          <a:ln w="15875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5098694" y="5010912"/>
            <a:ext cx="6413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abstraction — Gemini · Groq · Ollama · Bedrock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5098694" y="5257800"/>
            <a:ext cx="64136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by one environment variable; rejected output falls back to the deterministic notice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502920" y="588873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1947672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2093976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 population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2093976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generated, documented causal structure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215128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5361432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corpus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5361432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instruments, paraphrased and cited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8482584" y="5687568"/>
            <a:ext cx="3176016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8628888" y="5742432"/>
            <a:ext cx="2883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artifacts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8628888" y="5989320"/>
            <a:ext cx="2883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model, SHAP background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819656" y="19568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1819656" y="268833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1819656" y="341985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1819656" y="415137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1819656" y="488289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819656" y="5614416"/>
            <a:ext cx="0" cy="73152"/>
          </a:xfrm>
          <a:prstGeom prst="line">
            <a:avLst/>
          </a:prstGeom>
          <a:noFill/>
          <a:ln w="15875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502920" y="641908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shown is running: /health reports model ready, 37 provisions, vector_store pgvector, llm_provider gemini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an application arrives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steps. The first six are deterministic and complete in about ten milliseconds. Only then is a language model consulted, and only about wording.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E3F0E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40664" y="160934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 ·  COMPLETES IN ~10 MS  ·  NO MODEL INVOLVED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06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869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422 on out-of-range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identifier fields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0817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0817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3382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53898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8528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68528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8010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8010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3214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3730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8360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48360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TreeSHAP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+0.34 ms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7842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7842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03046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13562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28192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28192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47674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7674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82878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93394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08024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08024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27506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27506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627108" y="2404872"/>
            <a:ext cx="100584" cy="0"/>
          </a:xfrm>
          <a:prstGeom prst="line">
            <a:avLst/>
          </a:prstGeom>
          <a:noFill/>
          <a:ln w="15240">
            <a:solidFill>
              <a:srgbClr val="7FAF9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9732264" y="1920240"/>
            <a:ext cx="168859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878568" y="1975104"/>
            <a:ext cx="97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notice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878568" y="2221992"/>
            <a:ext cx="1395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11073384" y="197510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1073384" y="1975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02920" y="3218688"/>
            <a:ext cx="11155680" cy="457200"/>
          </a:xfrm>
          <a:prstGeom prst="roundRect">
            <a:avLst>
              <a:gd name="adj" fmla="val 16000"/>
            </a:avLst>
          </a:prstGeom>
          <a:solidFill>
            <a:srgbClr val="16232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2920" y="32186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20" kern="0" dirty="0">
                <a:solidFill>
                  <a:srgbClr val="9FE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DECISION, THE REASONS, THE RECOURSE AND THE CITATIONS ARE NOW FINAL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502920" y="3822192"/>
            <a:ext cx="11155680" cy="1591056"/>
          </a:xfrm>
          <a:prstGeom prst="roundRect">
            <a:avLst>
              <a:gd name="adj" fmla="val 5747"/>
            </a:avLst>
          </a:prstGeom>
          <a:solidFill>
            <a:srgbClr val="FBEFD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40664" y="395020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 ·  WORDING ONLY  ·  ~2 S  ·  MAY FAIL WITHOUT CONSEQUENCE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4066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88696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in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88696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assembled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298094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98094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33298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43814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58444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358444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rewrites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notice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7842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7842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603046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613562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8" name="Text 56"/>
          <p:cNvSpPr txBox="1"/>
          <p:nvPr/>
        </p:nvSpPr>
        <p:spPr>
          <a:xfrm>
            <a:off x="628192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out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628192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contradiction, PII,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37590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37590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727948" y="4745736"/>
            <a:ext cx="100584" cy="0"/>
          </a:xfrm>
          <a:prstGeom prst="line">
            <a:avLst/>
          </a:prstGeom>
          <a:noFill/>
          <a:ln w="15240">
            <a:solidFill>
              <a:srgbClr val="C8A46E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8833104" y="4261104"/>
            <a:ext cx="258775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12700">
            <a:solidFill>
              <a:srgbClr val="D8B478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4" name="Text 62"/>
          <p:cNvSpPr txBox="1"/>
          <p:nvPr/>
        </p:nvSpPr>
        <p:spPr>
          <a:xfrm>
            <a:off x="8979408" y="431596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27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by role</a:t>
            </a:r>
            <a:endParaRPr lang="en-US" sz="1150" dirty="0"/>
          </a:p>
        </p:txBody>
      </p:sp>
      <p:sp>
        <p:nvSpPr>
          <p:cNvPr id="65" name="Text 63"/>
          <p:cNvSpPr txBox="1"/>
          <p:nvPr/>
        </p:nvSpPr>
        <p:spPr>
          <a:xfrm>
            <a:off x="8979408" y="4562856"/>
            <a:ext cx="2295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underwriter sees more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 the applicant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11073384" y="431596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1073384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502920" y="5559552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777240" y="5678424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steps 7 to 9 fail for any reason — outage, rate limit, a guardrail firing — the applicant receives the notice rendered at step 6. Measured on a flaky free tier, that happened to half of all requests, and every one of them was still correct.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data, and why it is synthetic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dataset joins Account Aggregator-style alternative data to realised loan outcomes for Indian borrowers — that data is personal financial information and is not published. So the population is generated openly, with its assumptions written down and tested, rather than sourced from a proxy dataset and quietly relabelled.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Causal, not correlational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is driven by latent repayment capacity and willingness plus a large idiosyncratic shock. Observable features are noisy consequences of those latents — never rescaled copies of the label.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seeded biases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records go missing more often for women and rural applicants; declared income is depressed for women. Neither touches true repayment.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606040"/>
            <a:ext cx="353568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86207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410712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 tests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867912"/>
            <a:ext cx="30236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feature-to-label correlation 0.49. Equal true default rates across groups. Both asserted in the suite, so they fail loudly rather than drifting silently.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3309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ground truth is what makes the result provable. On a real portfolio a rejected applicant's counterfactual repayment is never observed, so the central claim could be argued but not measured.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pipeline, run on real credit data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objection to a synthetic population is that the result could be an artefact of the generator. So the identical code path - design matrix, booster, calibration, TreeSHAP, fairness audit - was run over two real public datasets with genuinely observed defaults.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514600"/>
          <a:ext cx="11155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371600"/>
                <a:gridCol w="1371600"/>
                <a:gridCol w="17373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err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TreeSHAP error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 Credit (Statlog)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Default of Credit Card Clients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project, synthetic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5.2e-15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51460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514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25146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25146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104120" y="2514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error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206240"/>
            <a:ext cx="11155680" cy="914400"/>
          </a:xfrm>
          <a:prstGeom prst="roundRect">
            <a:avLst>
              <a:gd name="adj" fmla="val 9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77240" y="4325112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synthetic population's difficulty sits between the two real datasets, which is the answer to “you tuned it to a flattering level”. TreeSHAP stays exact on real data. The audit also found a genuine violation rather than rubber-stamping: age band on German Credit fails the 80% rule at 0.783.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02920" y="5257800"/>
            <a:ext cx="11155680" cy="777240"/>
          </a:xfrm>
          <a:prstGeom prst="roundRect">
            <a:avLst>
              <a:gd name="adj" fmla="val 10588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5376672"/>
            <a:ext cx="106070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does NOT establish: neither dataset carries alternative data, so the inclusion finding cannot be reproduced on them. That claim rests on the synthetic population, and this deck says so.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difficulty sits between two real datasets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identical pipeline — design matrix, booster, calibration, TreeSHAP, fairness audit — run over real credit data with observed defaults.</a:t>
            </a:r>
            <a:endParaRPr lang="en-US" sz="1250" dirty="0"/>
          </a:p>
        </p:txBody>
      </p:sp>
      <p:pic>
        <p:nvPicPr>
          <p:cNvPr id="4" name="Image 0" descr="/Users/apple/pratyaya/docs/figures/real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7598" y="1481328"/>
            <a:ext cx="5786323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answer to “you tuned the generator to a flattering level”. A synthetic population easier than reality would score above both; one built to flatter would not calibrate to 0.0073 either.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051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5448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models. Same data, same splits, same approval rate.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0292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details and the credit bureau record only — the information a conventional underwriter sees.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0780" y="3017520"/>
            <a:ext cx="5417820" cy="1600200"/>
          </a:xfrm>
          <a:prstGeom prst="roundRect">
            <a:avLst>
              <a:gd name="adj" fmla="val 5143"/>
            </a:avLst>
          </a:prstGeom>
          <a:solidFill>
            <a:srgbClr val="1340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3388" y="3218688"/>
            <a:ext cx="48326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33388" y="3621024"/>
            <a:ext cx="48326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same, plus consented alternative data: UPI cash-flow behaviour, utility punctuality, telecom tenure.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rate is pinned at 70% for both, so the comparison is like-for-like. Any difference is the information, not the risk appetite.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Accuracy, risk and fairness moved together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34440"/>
                <a:gridCol w="1508760"/>
                <a:gridCol w="11887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on held-out data, approval rate pinned at 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Bureau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Alternative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 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 statistic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 among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Creditworthy NTC approved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impact, gender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Qualified-approval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− 0.074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02920" y="1371600"/>
            <a:ext cx="6949440" cy="402336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12648" y="137160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out, approval pinned at 70%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3520440" y="137160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only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71600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Alt data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137160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00" dirty="0"/>
          </a:p>
        </p:txBody>
      </p:sp>
      <p:pic>
        <p:nvPicPr>
          <p:cNvPr id="9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325880"/>
            <a:ext cx="3886200" cy="27340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2920" y="498348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7240" y="51023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accuracy-versus-fairness trade-off here — which is the point. The disparity was never a property of the algorithm, so it did not have to be bought back with accuracy.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extra evidence actually pays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curves on held-out applicants. The gain is largest in the region where most lending decisions are actually made.</a:t>
            </a:r>
            <a:endParaRPr lang="en-US" sz="1250" dirty="0"/>
          </a:p>
        </p:txBody>
      </p:sp>
      <p:pic>
        <p:nvPicPr>
          <p:cNvPr id="4" name="Image 0" descr="/Users/apple/pratyaya/docs/figures/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2702" y="1481328"/>
            <a:ext cx="6596116" cy="46451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6B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669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RESULT, STATED AS PEOPLE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Among applicants who would have repaid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6035040" cy="3995928"/>
          </a:xfrm>
          <a:prstGeom prst="roundRect">
            <a:avLst>
              <a:gd name="adj" fmla="val 2288"/>
            </a:avLst>
          </a:prstGeom>
          <a:solidFill>
            <a:srgbClr val="FFFFFF"/>
          </a:solidFill>
          <a:ln/>
        </p:spPr>
      </p:sp>
      <p:pic>
        <p:nvPicPr>
          <p:cNvPr id="5" name="Image 0" descr="/Users/apple/pratyaya/docs/figures/fairness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984248"/>
            <a:ext cx="5815584" cy="3849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0" y="1874520"/>
            <a:ext cx="4800600" cy="1874520"/>
          </a:xfrm>
          <a:prstGeom prst="roundRect">
            <a:avLst>
              <a:gd name="adj" fmla="val 4878"/>
            </a:avLst>
          </a:prstGeom>
          <a:solidFill>
            <a:srgbClr val="0A574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0" y="2057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10.8 → 3.4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7132320" y="27432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percentage-point gap between creditworthy women and men. A 69% reduction.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3950208"/>
            <a:ext cx="4800600" cy="1920240"/>
          </a:xfrm>
          <a:prstGeom prst="roundRect">
            <a:avLst>
              <a:gd name="adj" fmla="val 4762"/>
            </a:avLst>
          </a:prstGeom>
          <a:solidFill>
            <a:srgbClr val="0A574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32320" y="4160520"/>
            <a:ext cx="4251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3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creditworthy women approved. Fewer defaults among those approved. The people the old model missed were not bad risks — they were invisible ones.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tried the algorithmic remedies too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Claiming the disparity lives in the evidence rather than the algorithm is only worth something if the standard algorithmic fixes were actually run. They were, at an identical approval rate.</a:t>
            </a:r>
            <a:endParaRPr lang="en-US" sz="14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377440"/>
          <a:ext cx="1115568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371600"/>
                <a:gridCol w="1554480"/>
                <a:gridCol w="219456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Disparate 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gender to decide?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bureau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data (this project)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E6B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CorrelationRemover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ExponentiatedGradient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degenerate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A3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5A65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2377440"/>
            <a:ext cx="11155680" cy="384048"/>
          </a:xfrm>
          <a:prstGeom prst="rect">
            <a:avLst/>
          </a:prstGeom>
          <a:solidFill>
            <a:srgbClr val="16232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3774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25196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3774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377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Disparate impact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9372600" y="23774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gender to decide?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" y="457200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469087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algorithmic remedy bought fairness with accuracy or with risk. Widening the evidence was the only one that improved discrimination, risk and fairness together — and the only one needing the protected attribute at neither training nor decision time.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5577840"/>
            <a:ext cx="11155680" cy="868680"/>
          </a:xfrm>
          <a:prstGeom prst="roundRect">
            <a:avLst>
              <a:gd name="adj" fmla="val 9474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77240" y="5696712"/>
            <a:ext cx="106070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failures recorded rather than smoothed over: CorrelationRemover cannot accept a missing bureau score, the very signal that defines a thin-file applicant. ExponentiatedGradient collapsed to approving 99% of everyone across five constraint tightnesses and three constraint types — at a 12% base rate, approving everyone satisfies parity exactly.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intervention improved both axes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strategy at an identical approval rate. Up is a better model; left is a fairer one. Diamonds must read the applicant’s gender to decide.</a:t>
            </a:r>
            <a:endParaRPr lang="en-US" sz="1250" dirty="0"/>
          </a:p>
        </p:txBody>
      </p:sp>
      <p:pic>
        <p:nvPicPr>
          <p:cNvPr id="4" name="Image 0" descr="/Users/apple/pratyaya/docs/figures/mitig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8066" y="1481328"/>
            <a:ext cx="5625389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algorithmic remedies sit down and to the left: they buy fairness with accuracy. Widening the evidence is the only point that moved up and left together, and the only one that never reads a protected attribute.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lender’s own book hides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observed only for applicants a previous policy approved, so the training data is censored. On a real book the damage is unmeasurable. Here it is not.</a:t>
            </a:r>
            <a:endParaRPr lang="en-US" sz="1250" dirty="0"/>
          </a:p>
        </p:txBody>
      </p:sp>
      <p:pic>
        <p:nvPicPr>
          <p:cNvPr id="4" name="Image 0" descr="/Users/apple/pratyaya/docs/figures/reject_infer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1446" y="1481328"/>
            <a:ext cx="8218627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accepted book shows a 5.77% bad rate against a true pool rate of 12.00% — a lender reading their own data sees a portfolio six points safer than the one they are underwriting. Fuzzy augmentation recovers 73% of the lost ranking quality.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 codes that faithfully decompose the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decline. Contributions in log-odds, aggregated back to features a person recognises.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566928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121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Days with very low balance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40 of 90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423160"/>
            <a:ext cx="4069080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Utility bill punctuality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35%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136392"/>
            <a:ext cx="12252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5478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Income regularity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26%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9624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849624"/>
            <a:ext cx="539496" cy="128016"/>
          </a:xfrm>
          <a:prstGeom prst="roundRect">
            <a:avLst>
              <a:gd name="adj" fmla="val 50000"/>
            </a:avLst>
          </a:prstGeom>
          <a:solidFill>
            <a:srgbClr val="A330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2611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 ·  declared income</a:t>
            </a:r>
            <a:pPr indent="0" marL="0"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₹5,000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562856"/>
            <a:ext cx="5120640" cy="128016"/>
          </a:xfrm>
          <a:prstGeom prst="roundRect">
            <a:avLst>
              <a:gd name="adj" fmla="val 50000"/>
            </a:avLst>
          </a:prstGeom>
          <a:solidFill>
            <a:srgbClr val="EDF0E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562856"/>
            <a:ext cx="1014984" cy="128016"/>
          </a:xfrm>
          <a:prstGeom prst="roundRect">
            <a:avLst>
              <a:gd name="adj" fmla="val 50000"/>
            </a:avLst>
          </a:prstGeom>
          <a:solidFill>
            <a:srgbClr val="0E6B4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46520" y="1874520"/>
            <a:ext cx="5212080" cy="1371600"/>
          </a:xfrm>
          <a:prstGeom prst="roundRect">
            <a:avLst>
              <a:gd name="adj" fmla="val 60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720840" y="20299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 × 10⁻¹⁵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6720840" y="25786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additivity error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codes sum exactly to the model's output. They are the decomposition, not an approximation of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46520" y="3429000"/>
            <a:ext cx="5212080" cy="1508760"/>
          </a:xfrm>
          <a:prstGeom prst="roundRect">
            <a:avLst>
              <a:gd name="adj" fmla="val 5455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720840" y="3584448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C4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build let the booster split categoricals natively. TreeSHAP mis-attributed those splits by up to 0.24 log-odds — enough to reorder an applicant's reasons. One-hot encoding every split cost 0.001 AUC and made the attribution exact. Under the Fair Practices Code an unfaithful reason is a compliance failure, not a cosmetic one.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factor, and exactly how much it counted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declined applicant, decomposed. Bars to the right pushed toward decline; bars to the left pushed toward approval.</a:t>
            </a:r>
            <a:endParaRPr lang="en-US" sz="1250" dirty="0"/>
          </a:p>
        </p:txBody>
      </p:sp>
      <p:pic>
        <p:nvPicPr>
          <p:cNvPr id="4" name="Image 0" descr="/Users/apple/pratyaya/docs/figures/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8571" y="1481328"/>
            <a:ext cx="5764378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786384"/>
          </a:xfrm>
          <a:prstGeom prst="roundRect">
            <a:avLst>
              <a:gd name="adj" fmla="val 10465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not importances or approximations. They are the model’s output taken apart and put back together, summing to within 5×10⁻¹⁵ of the score itself.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decline that comes with a plan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below is a genuine counterfactual: the feature is moved, the applicant is re-scored by the same model, and only changes that actually flip the decision are shown.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amount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₹97,300  →  ₹43,100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less lowers the monthly instalment.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68952" y="249631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6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 →  14 months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6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longer term reduces each instalment.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2920" y="2240280"/>
            <a:ext cx="353568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78952" y="2496312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78952" y="2496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3044952"/>
            <a:ext cx="3023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Recharge regularity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 →  40%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78952" y="3685032"/>
            <a:ext cx="302361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recharge schedule builds this signal. Takes one to three months.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58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move.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 and employment sector are never suggested. Advising someone to be older is not recourse.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46320"/>
            <a:ext cx="5440680" cy="960120"/>
          </a:xfrm>
          <a:prstGeom prst="roundRect">
            <a:avLst>
              <a:gd name="adj" fmla="val 8571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73952" y="4956048"/>
            <a:ext cx="4928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they can reach.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capped at the 85th percentile of the population, and “no attainable change” is reported honestly rather than padded.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features are excluded deliberately: “lower your instalment-to-income ratio” is not an action; borrow less and repay over longer are, and both are offered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regulation demanded the feature anyway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provisions from five Indian instruments, embedded locally and retrieved per decision, so every notice cites the rule that governs it.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Fair Practices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conveyed — automated or not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9776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80944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980944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Digital Lending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Need-based data, Key Fact Statement, explainable models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56632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57800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purpose limitation, minimisation, erasure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33488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34656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34656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34656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534656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consented rail alternative data legally travels 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10344" y="2194560"/>
            <a:ext cx="204825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11512" y="237744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11512" y="2377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11512" y="28529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 Act 2005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329184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adverse history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11155680" cy="1143000"/>
          </a:xfrm>
          <a:prstGeom prst="roundRect">
            <a:avLst>
              <a:gd name="adj" fmla="val 72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77240" y="438912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FOR A LIVE DECLINE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Reasons for rejection must be communicated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Borrower's right to reject data collection   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of a bureau record is not evidence of poor credit conduct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Provisions are labelled paraphrases citing the real instrument — seeding a corpus with invented quotations would be the hallucination this design prevents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applicant actually reads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Produced live by Gemini from the finished decision. Every figure in it comes from the facts block; the model added no numbers of its own.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7223760" cy="3931920"/>
          </a:xfrm>
          <a:prstGeom prst="roundRect">
            <a:avLst>
              <a:gd name="adj" fmla="val 2093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212848"/>
            <a:ext cx="6583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writing to inform you that your loan application has been declined. As you are new to formal credit, we assessed your application based on your financial habits rather than a credit bureau record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[CIC-04]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assessment identified a few areas that prevented approval. Your monthly instalment amount is currently too high relative to your income of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19,600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Additionally, we noted that your utility bills are often paid late and your mobile recharge pattern is irregular.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your chances for future applications, you could request a smaller loan amount, such as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choose a longer repayment period of approximately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months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Both steps would lower your monthly instalment.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accordance with the RBI Fair Practices Code, we are providing these reasons for your application's decline in writing 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[FPC-01]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046720" y="1965960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47888" y="2057400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Narrated by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47888" y="2295144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gemini-3.1-flash-lite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2770632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47888" y="2862072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47888" y="3099816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 seconds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46720" y="3575304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47888" y="3666744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47888" y="3904488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46720" y="4379976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47888" y="4471416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4709160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CIC-04 · FPC-01 · DL-04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046720" y="5184648"/>
            <a:ext cx="3611880" cy="694944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47888" y="5276088"/>
            <a:ext cx="32095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Invented facts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5513832"/>
            <a:ext cx="3209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43,098 and 14 months are the recourse targets the model computed, re-scored against the real decision boundary — not figures the language model chose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guardrails actually stop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4" name="Shape 2"/>
          <p:cNvSpPr/>
          <p:nvPr/>
        </p:nvSpPr>
        <p:spPr>
          <a:xfrm>
            <a:off x="75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contradiction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declined and the generated text congratulates the applicant, the lender has mis-communicated a credit decision. Rejected, and the deterministic notice is served instead.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9" name="Shape 7"/>
          <p:cNvSpPr/>
          <p:nvPr/>
        </p:nvSpPr>
        <p:spPr>
          <a:xfrm>
            <a:off x="456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Applicant-influenced values reach the prompt. The system prompt states that the facts block is data, never instruction, and the assembled prompt is scanned before it is sent.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22920" y="1463040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22333F"/>
          </a:solidFill>
          <a:ln/>
        </p:spPr>
      </p:sp>
      <p:sp>
        <p:nvSpPr>
          <p:cNvPr id="14" name="Shape 12"/>
          <p:cNvSpPr/>
          <p:nvPr/>
        </p:nvSpPr>
        <p:spPr>
          <a:xfrm>
            <a:off x="8378952" y="169164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212848"/>
            <a:ext cx="3023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 leaving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78608"/>
            <a:ext cx="30236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Aadhaar, PAN, phone and email patterns are detected inbound and outbound — and the guardrail's own log records the kind found, never the value.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11155680" cy="1417320"/>
          </a:xfrm>
          <a:prstGeom prst="roundRect">
            <a:avLst>
              <a:gd name="adj" fmla="val 5806"/>
            </a:avLst>
          </a:prstGeom>
          <a:solidFill>
            <a:srgbClr val="1340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guarantee is structural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5902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from the applicant record. There is no code path by which a name, PAN or Aadhaar could reach a third-party model — and the API refuses a request carrying one with a 422. Data minimisation by construction, not by promise.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Guardrails, demonstrated against the live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scenarios run against the real service. In every blocked case the applicant still received the decision, the reasons, the recourse and the citations — the guardrail removes the wording, never the substance.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212848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04088" y="235000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decline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55117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narrates. Nothing blocked.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228600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971800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E3F0E9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44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not a top reason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101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carries only the top reason codes, so the poisoned value never reaches the model.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304495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reached it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3730752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4088" y="3867912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4088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8039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in a field that IS a top reason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06908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reaches the prompt and the inbound guardrail rejects it.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8039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4489704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04088" y="4626864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4562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contradicts the decision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8280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congratulates an applicant the model declined.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6285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02920" y="5248656"/>
            <a:ext cx="11155680" cy="658368"/>
          </a:xfrm>
          <a:prstGeom prst="roundRect">
            <a:avLst>
              <a:gd name="adj" fmla="val 12500"/>
            </a:avLst>
          </a:prstGeom>
          <a:solidFill>
            <a:srgbClr val="F7E5E4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04088" y="5385816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04088" y="5385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leaks a phone number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280160" y="5586984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provider puts an identifier into applicant-facing text.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732520" y="53218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A3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02920" y="6053328"/>
            <a:ext cx="11155680" cy="603504"/>
          </a:xfrm>
          <a:prstGeom prst="roundRect">
            <a:avLst>
              <a:gd name="adj" fmla="val 13636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this demonstration corrected a claim we had wrong: scenario 2 was first recorded as a guardrail failure. It is not — nothing needed blocking, because nothing got through.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asked a model to attack the guardrails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round, a language model invents attacks it has never been shown, and is not told what the detectors look for. The guardrails are then hardened and tested again on fresh attacks.</a:t>
            </a:r>
            <a:endParaRPr lang="en-US" sz="1250" dirty="0"/>
          </a:p>
        </p:txBody>
      </p:sp>
      <p:pic>
        <p:nvPicPr>
          <p:cNvPr id="4" name="Image 0" descr="/Users/apple/pratyaya/docs/figures/redt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3085" y="1481328"/>
            <a:ext cx="577535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524865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5367528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does not climb toward 1.0 — it plateaus near 0.6. Patching catches that round’s phrasings; the next round finds new categories. Pattern matching is an arms race a regular expression does not win, and the honest score is 0.6, not the 1.000 our own test set reports.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asserted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98448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evaluation harness turns the system's claims into numbers, regenerable in one command, with no API key or database required.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provision in top 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28 golden queries. 92.9% at rank 1, MRR 0.958. The two rank-1 misses are listed in the report.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0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6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616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F1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6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23 adversarial and benign cases. Benign cases count equally — a guardrail that blocks valid explanations breaks the duty to give reasons.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739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0.0073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calibration error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stated 8% risk lands within 0.7 points of the observed rate, so the probability is usable for pricing, not just ranking.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75420" y="2176272"/>
            <a:ext cx="2583180" cy="2670048"/>
          </a:xfrm>
          <a:prstGeom prst="roundRect">
            <a:avLst>
              <a:gd name="adj" fmla="val 3186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331452" y="2432304"/>
            <a:ext cx="20711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E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9331452" y="3218688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89% coverage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31452" y="3675888"/>
            <a:ext cx="207111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invariants that were expensive to get right, not asserting that code runs.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155680" cy="731520"/>
          </a:xfrm>
          <a:prstGeom prst="roundRect">
            <a:avLst>
              <a:gd name="adj" fmla="val 11250"/>
            </a:avLst>
          </a:prstGeom>
          <a:solidFill>
            <a:srgbClr val="FBEFDC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514807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plainly: that guardrail F1 is on 23 cases I wrote myself. It shows the guardrails catch the attacks I anticipated — not that they catch all attacks.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 is not a latency trade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801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is made while an applicant waits, so the cost of every guarantee is a product constraint rather than a footnote. Measured per applicant on CPU, p50.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only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01000" y="21488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3.18 ms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715768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15768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exact SHAP reason codes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27157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3.52 ms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282696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82696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governing provisions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28269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2.93 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3849624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84962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full compliant notice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384962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3.68 ms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416552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2233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416552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actionable recourse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001000" y="441655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75.92 ms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reason codes cost 0.34 ms.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9E3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explained, cited decision lands in about 10 ms — about 86 ms when it also computes recourse.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5010912"/>
            <a:ext cx="5166360" cy="1188720"/>
          </a:xfrm>
          <a:prstGeom prst="roundRect">
            <a:avLst>
              <a:gd name="adj" fmla="val 6923"/>
            </a:avLst>
          </a:prstGeom>
          <a:solidFill>
            <a:srgbClr val="2233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51755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0A7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model is excluded.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off the decision path and its latency belongs to a third-party API. Measured separately: 2.8 s mean, 10 of 10 live calls.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decisions worth defending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5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under “or equivalent”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layered shape as Spring Boot: router → service → repository, Pydantic DTOs, generated OpenAPI. Chosen to be defensible in review, not to avoid Java.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68952" y="1554480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6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6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compiled system dependency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and XGBoost link libomp on macOS and fail without Homebrew — for us and for a grader. scikit-learn installs anywhere.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22920" y="129844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8952" y="155448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7895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78952" y="210312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is signal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78952" y="256032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absent bureau score is not a data defect to impute away — it is the defining fact about a thin-file applicant. It reaches the model as NaN.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Bedrock-ready, honestly labelled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5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providers behind one interface, selected by env var. The Bedrock adapter is wired but never run live — we had no AWS access, and this deck says so.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1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68952" y="4023360"/>
            <a:ext cx="384048" cy="384048"/>
          </a:xfrm>
          <a:prstGeom prst="ellipse">
            <a:avLst/>
          </a:prstGeom>
          <a:solidFill>
            <a:srgbClr val="A33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6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⚿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6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default; a placeholder JWT secret fails startup. Role-scoped responses omit internals rather than nulling them.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22920" y="3767328"/>
            <a:ext cx="35356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78952" y="402336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7895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378952" y="4572000"/>
            <a:ext cx="3023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run locally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78952" y="5029200"/>
            <a:ext cx="3023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on CPU: no text leaves the machine, no per-query cost, and deterministic vectors so an audited retrieval can be reproduced later.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alternative data legally reaches a lender in India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Aggregator framework is the consented rail this data travels on. Modelling it properly is what separates “we use alternative data” from a system a regulator would recognise.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9224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E3F0E9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9224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consent, and may revoke it at any time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40380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7852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34156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534156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FFFFFF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534156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the data and may not read, store or resell it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25312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72784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19088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FIPs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FFFFFF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419088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only what the consent artefact names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810244" y="2098548"/>
            <a:ext cx="310896" cy="0"/>
          </a:xfrm>
          <a:prstGeom prst="line">
            <a:avLst/>
          </a:prstGeom>
          <a:noFill/>
          <a:ln w="19050">
            <a:solidFill>
              <a:srgbClr val="A8B4B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57716" y="1572768"/>
            <a:ext cx="2500884" cy="1051560"/>
          </a:xfrm>
          <a:prstGeom prst="roundRect">
            <a:avLst>
              <a:gd name="adj" fmla="val 6087"/>
            </a:avLst>
          </a:prstGeom>
          <a:solidFill>
            <a:srgbClr val="E3F0E9"/>
          </a:solidFill>
          <a:ln w="15875">
            <a:solidFill>
              <a:srgbClr val="0E6B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304020" y="1627632"/>
            <a:ext cx="22082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Lender (FIU)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304020" y="1874520"/>
            <a:ext cx="220827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E3F0E9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304020" y="1975104"/>
            <a:ext cx="22082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use it only for the purpose recorded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2907792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CONSENT ARTEFACT RECORDS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9224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assessment, and nothing else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59659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2905963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2905963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accounts named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1639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16270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16270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expiry, not indefinite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273138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419442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7419442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it may be pulled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529877" y="3218688"/>
            <a:ext cx="2128723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9525">
            <a:solidFill>
              <a:srgbClr val="DEE4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676181" y="3273552"/>
            <a:ext cx="18361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Revocation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9676181" y="3520440"/>
            <a:ext cx="18361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withdrawable at any time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02920" y="42245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[DL-02]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must be need-based and consented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02920" y="46451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6817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[AA-05]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limitation binds the recipient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502920" y="51023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02920" y="51389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[DPDP-04]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personal data necessary may be collected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02920" y="55595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2920" y="5596128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[DPDP-05]  </a:t>
            </a:r>
            <a:pPr indent="0" marL="0">
              <a:buNone/>
            </a:pPr>
            <a:r>
              <a:rPr lang="en-US" sz="1250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is freely revocable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02920" y="6016752"/>
            <a:ext cx="11155680" cy="0"/>
          </a:xfrm>
          <a:prstGeom prst="line">
            <a:avLst/>
          </a:prstGeom>
          <a:noFill/>
          <a:ln w="9525">
            <a:solidFill>
              <a:srgbClr val="DEE4E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02920" y="6327648"/>
            <a:ext cx="11155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94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never receives an identifier: no name, PAN, Aadhaar or phone number, and the API refuses a request that carries one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and privacy, by construction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155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a structural property rather than a policy someone has to remember.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5" name="Shape 3"/>
          <p:cNvSpPr/>
          <p:nvPr/>
        </p:nvSpPr>
        <p:spPr>
          <a:xfrm>
            <a:off x="740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0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9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identifier can reach a third party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assembled only from the decision object, never the applicant record. There is no code path by which a name, PAN or Aadhaar could be sent to a provider.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0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55664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4304" y="18288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refuses data it does not need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249424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extra="forbid" on the request schema, so an application carrying a PAN is rejected with a 422 rather than quietly accepted and ignored.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40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0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9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 has a usable default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40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placeholder JWT secret fails startup. Demo passwords absent from the environment are generated per run and printed once.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108960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55664" y="33101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55664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4304" y="3310128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omit rather than blank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55664" y="3730752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applicant response carries no trace of the probability, threshold, contributions or provenance — the fields are absent, not nulled.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40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0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9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do not leak internals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40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Unhandled exceptions are logged in full and returned as a bare 500. Stack traces and file paths never cross the HTTP boundary.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4590288"/>
            <a:ext cx="5440680" cy="1298448"/>
          </a:xfrm>
          <a:prstGeom prst="roundRect">
            <a:avLst>
              <a:gd name="adj" fmla="val 6338"/>
            </a:avLst>
          </a:prstGeom>
          <a:solidFill>
            <a:srgbClr val="22333F"/>
          </a:solidFill>
          <a:ln/>
        </p:spPr>
      </p:sp>
      <p:sp>
        <p:nvSpPr>
          <p:cNvPr id="30" name="Shape 28"/>
          <p:cNvSpPr/>
          <p:nvPr/>
        </p:nvSpPr>
        <p:spPr>
          <a:xfrm>
            <a:off x="6455664" y="479145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55664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004304" y="4791456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never leave the host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6455664" y="5212080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Applicant-facing text is embedded locally through ONNX, so retrieval involves no third-party call at all.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572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62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18488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1848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population is synthetic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84248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figures describe this population, not the Indian credit market. The direction of the result follows from a mechanism — bureau absence correlates with gender and region while true risk does not — that is well documented in the real world.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898648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099816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99816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corpus is paraphrased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465576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summaries citing real instruments, labelled as such. Production would ingest the official texts with per-clause identifiers; the retrieval machinery is unchanged by that substitution.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4379976"/>
            <a:ext cx="11155680" cy="123444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  <a:effectLst>
            <a:outerShdw sx="100000" sy="100000" kx="0" ky="0" algn="bl" rotWithShape="0" blurRad="101600" dist="25400" dir="5400000">
              <a:srgbClr val="9AA5AE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4581144"/>
            <a:ext cx="384048" cy="384048"/>
          </a:xfrm>
          <a:prstGeom prst="ellipse">
            <a:avLst/>
          </a:prstGeom>
          <a:solidFill>
            <a:srgbClr val="B2701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581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581144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cloud layer is designed, not provisioned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946904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deployment, and the Bedrock adapter has never run against a real endpoint. Both are stated in the README rather than implied away.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NEXT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things I would do with a real portfolio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18928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inclusion experiment on real data.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 is a hypothesis with supporting evidence, not a measurement of the market.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24963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reject inference.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Repayment is only observed for those past policy approved, so the training population is censored.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081528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309981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alternative-data drift.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behaviour shifts within a quarter; bureau data does not.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69848" y="37033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against a WOE scorecard.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 Indian credit teams actually review and sign off.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4288536"/>
            <a:ext cx="384048" cy="384048"/>
          </a:xfrm>
          <a:prstGeom prst="ellipse">
            <a:avLst/>
          </a:prstGeom>
          <a:solidFill>
            <a:srgbClr val="0E6B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43068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official regulatory texts.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2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per-clause identifiers and effective dates, so citations carry versions.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2920" y="5212080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" y="5212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auditable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0" y="5212080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0" y="5212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reasons are exact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12280" y="5212080"/>
            <a:ext cx="2926080" cy="502920"/>
          </a:xfrm>
          <a:prstGeom prst="roundRect">
            <a:avLst>
              <a:gd name="adj" fmla="val 49091"/>
            </a:avLst>
          </a:prstGeom>
          <a:solidFill>
            <a:srgbClr val="1340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12280" y="52120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FD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applicant gets a plan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Pratyaya - Explainable Credit Risk</dc:title>
  <dc:subject>PptxGenJS Presentation</dc:subject>
  <dc:creator>Swaraj</dc:creator>
  <cp:lastModifiedBy>Swaraj</cp:lastModifiedBy>
  <cp:revision>1</cp:revision>
  <dcterms:created xsi:type="dcterms:W3CDTF">2026-09-21T13:07:34Z</dcterms:created>
  <dcterms:modified xsi:type="dcterms:W3CDTF">2026-09-21T13:07:34Z</dcterms:modified>
</cp:coreProperties>
</file>